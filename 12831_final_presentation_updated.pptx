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3" roundtripDataSignature="AMtx7mgaaKZSC+NxOeLBB9QChWVvsYmx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customschemas.google.com/relationships/presentationmetadata" Target="metadata"/><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Today we're presenting our final project a context-aware digital twin for train vibration monitoring and control. Our system uses Arduino telemetry and DAQ accelerometers to build a baseline model for expected vibration, detect anomalies through residuals, and make real-time control decisions. The project spans 108 experimental runs, over 4,200 windows, and 12 operating conditions across two materials.</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Here's how the full pipeline works. Raw sensor data from the Arduino and DAQ feeds into a signal alignment stage, which discovers and aligns all 108 runs onto a common 25 Hz timeline. That aligned data is then sliced into 1-second windows, and a digital twin regressor is trained to predict expected vibration from operating context alone. Residuals from that model feed into a classifier that decides whether the train should continue, adjust speed, or stop. These four stages close the loop from raw sensors to control action.</a:t>
            </a:r>
            <a:endParaRPr/>
          </a:p>
        </p:txBody>
      </p:sp>
      <p:sp>
        <p:nvSpPr>
          <p:cNvPr id="54" name="Google Shape;5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Starting with data discovery and alignment. All 108 runs were organized by material, condition, and run ID, and folder names were parsed to extract metadata — speed, load weight, placement, and material type. Each run contained two sensor streams: Arduino at variable frequency and DAQ accelerometers at 1,000 Hz. Both were aligned onto a single 25 Hz timeline using linear interpolation. The result was zero broken runs — 100% alignment success — with clean exported files ready for the rest of the pipeline</a:t>
            </a:r>
            <a:endParaRPr/>
          </a:p>
        </p:txBody>
      </p:sp>
      <p:sp>
        <p:nvSpPr>
          <p:cNvPr id="101" name="Google Shape;10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Next, the digital twin. Aligned data was sliced into non-overlapping 1-second windows, and 6 features were extracted per window — including RMS, spectral centroid, and dominant frequency. A Random Forest regressor was then trained on operating context alone, without seeing vibration directly. The residual — actual minus expected RMS — quantifies how surprising any window is. Using GroupKFold cross-validation to prevent data leakage, the model achieved an R² of 0.91, an MAE of 0.005 g-units, and zero systematic bias.</a:t>
            </a:r>
            <a:endParaRPr/>
          </a:p>
        </p:txBody>
      </p:sp>
      <p:sp>
        <p:nvSpPr>
          <p:cNvPr id="134" name="Google Shape;13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From there, the residuals feed into the classification and decision logic layer. A Random Forest classifier distinguishes baseline from loaded conditions per window, with balanced class weights and 15% probability threshold. The decision logic is simple: if the critical threshold is exceeded, stop; if the warning threshold is hit alongside a loaded prediction, adjust speed; otherwise, continue operating</a:t>
            </a:r>
            <a:endParaRPr/>
          </a:p>
        </p:txBody>
      </p:sp>
      <p:sp>
        <p:nvSpPr>
          <p:cNvPr id="167" name="Google Shape;16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100">
                <a:latin typeface="Arial"/>
                <a:ea typeface="Arial"/>
                <a:cs typeface="Arial"/>
                <a:sym typeface="Arial"/>
              </a:rPr>
              <a:t>Now for the evaluation. Three key findings emerged. </a:t>
            </a:r>
            <a:endParaRPr sz="1100">
              <a:latin typeface="Arial"/>
              <a:ea typeface="Arial"/>
              <a:cs typeface="Arial"/>
              <a:sym typeface="Arial"/>
            </a:endParaRPr>
          </a:p>
          <a:p>
            <a:pPr indent="0" lvl="0" marL="0" rtl="0" algn="l">
              <a:lnSpc>
                <a:spcPct val="100000"/>
              </a:lnSpc>
              <a:spcBef>
                <a:spcPts val="0"/>
              </a:spcBef>
              <a:spcAft>
                <a:spcPts val="0"/>
              </a:spcAft>
              <a:buSzPts val="1400"/>
              <a:buNone/>
            </a:pPr>
            <a:r>
              <a:rPr lang="en-US" sz="1100">
                <a:latin typeface="Arial"/>
                <a:ea typeface="Arial"/>
                <a:cs typeface="Arial"/>
                <a:sym typeface="Arial"/>
              </a:rPr>
              <a:t>First, the digital twin prediction is excellent also consistent across all 108 runs and both materials. </a:t>
            </a:r>
            <a:endParaRPr sz="1100">
              <a:latin typeface="Arial"/>
              <a:ea typeface="Arial"/>
              <a:cs typeface="Arial"/>
              <a:sym typeface="Arial"/>
            </a:endParaRPr>
          </a:p>
          <a:p>
            <a:pPr indent="0" lvl="0" marL="0" rtl="0" algn="l">
              <a:lnSpc>
                <a:spcPct val="100000"/>
              </a:lnSpc>
              <a:spcBef>
                <a:spcPts val="0"/>
              </a:spcBef>
              <a:spcAft>
                <a:spcPts val="0"/>
              </a:spcAft>
              <a:buSzPts val="1400"/>
              <a:buNone/>
            </a:pPr>
            <a:r>
              <a:rPr lang="en-US" sz="1100">
                <a:latin typeface="Arial"/>
                <a:ea typeface="Arial"/>
                <a:cs typeface="Arial"/>
                <a:sym typeface="Arial"/>
              </a:rPr>
              <a:t>Second residuals cannot reliably detect anomalies. Counter to our assumption, baseline windows had </a:t>
            </a:r>
            <a:r>
              <a:rPr i="1" lang="en-US" sz="1100">
                <a:latin typeface="Arial"/>
                <a:ea typeface="Arial"/>
                <a:cs typeface="Arial"/>
                <a:sym typeface="Arial"/>
              </a:rPr>
              <a:t>higher</a:t>
            </a:r>
            <a:r>
              <a:rPr lang="en-US" sz="1100">
                <a:latin typeface="Arial"/>
                <a:ea typeface="Arial"/>
                <a:cs typeface="Arial"/>
                <a:sym typeface="Arial"/>
              </a:rPr>
              <a:t> mean residuals than loaded ones. p val was 0.97, meaning no statistically significant separation. The binary classifier's ~80% accuracy is misleading due to an 11-to-1 class imbalance, balanced accuracy was just 55.2%. Third, speed is perfectly detectable at 100% F1, but weight placement achieves only 7–14% F1</a:t>
            </a:r>
            <a:endParaRPr/>
          </a:p>
        </p:txBody>
      </p:sp>
      <p:sp>
        <p:nvSpPr>
          <p:cNvPr id="208" name="Google Shape;20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Here's the evidence behind those findings. The residual bar chart shows baseline sitting second-highest ,noisier than most loaded conditions, which explains why residuals fail as an anomaly signal. All conditions fall well below the warning threshold, so the system almost never triggers an alert. The confusion matrix reinforces this: speed conditions show perfect diagonal squares, while the location rows are diffuse, the model is essentially guessing on weight placement</a:t>
            </a:r>
            <a:endParaRPr/>
          </a:p>
        </p:txBody>
      </p:sp>
      <p:sp>
        <p:nvSpPr>
          <p:cNvPr id="233" name="Google Shape;23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To summarize, the digital twin regression and speed detection both performed excellently. However, anomaly detection and placement classification fell short due to an imbalanced dataset. Going forward, we recommend collecting more baseline data, introducing genuine anomalies for better training, and prioritizing speed as the primary detection signal. Thank you.</a:t>
            </a:r>
            <a:endParaRPr/>
          </a:p>
        </p:txBody>
      </p:sp>
      <p:sp>
        <p:nvSpPr>
          <p:cNvPr id="259" name="Google Shape;259;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1"/>
          <p:cNvSpPr/>
          <p:nvPr/>
        </p:nvSpPr>
        <p:spPr>
          <a:xfrm>
            <a:off x="0" y="0"/>
            <a:ext cx="54864" cy="5143500"/>
          </a:xfrm>
          <a:prstGeom prst="rect">
            <a:avLst/>
          </a:prstGeom>
          <a:solidFill>
            <a:srgbClr val="2563EB"/>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
          <p:cNvSpPr/>
          <p:nvPr/>
        </p:nvSpPr>
        <p:spPr>
          <a:xfrm>
            <a:off x="411480" y="274320"/>
            <a:ext cx="411480" cy="45720"/>
          </a:xfrm>
          <a:prstGeom prst="rect">
            <a:avLst/>
          </a:prstGeom>
          <a:solidFill>
            <a:srgbClr val="2563EB"/>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1"/>
          <p:cNvSpPr/>
          <p:nvPr/>
        </p:nvSpPr>
        <p:spPr>
          <a:xfrm>
            <a:off x="411480" y="384048"/>
            <a:ext cx="5760720" cy="914400"/>
          </a:xfrm>
          <a:prstGeom prst="rect">
            <a:avLst/>
          </a:prstGeom>
          <a:noFill/>
          <a:ln>
            <a:noFill/>
          </a:ln>
        </p:spPr>
        <p:txBody>
          <a:bodyPr anchorCtr="0" anchor="ctr" bIns="0" lIns="0" spcFirstLastPara="1" rIns="0" wrap="square" tIns="0">
            <a:normAutofit/>
          </a:bodyPr>
          <a:lstStyle/>
          <a:p>
            <a:pPr indent="0" lvl="0" marL="0" marR="0" rtl="0" algn="l">
              <a:lnSpc>
                <a:spcPct val="120000"/>
              </a:lnSpc>
              <a:spcBef>
                <a:spcPts val="0"/>
              </a:spcBef>
              <a:spcAft>
                <a:spcPts val="0"/>
              </a:spcAft>
              <a:buClr>
                <a:srgbClr val="1E293B"/>
              </a:buClr>
              <a:buSzPts val="2400"/>
              <a:buFont typeface="Georgia"/>
              <a:buNone/>
            </a:pPr>
            <a:r>
              <a:rPr b="1" i="0" lang="en-US" sz="2300" u="none" cap="none" strike="noStrike">
                <a:solidFill>
                  <a:srgbClr val="1E293B"/>
                </a:solidFill>
                <a:latin typeface="Georgia"/>
                <a:ea typeface="Georgia"/>
                <a:cs typeface="Georgia"/>
                <a:sym typeface="Georgia"/>
              </a:rPr>
              <a:t>Context-Aware Digital Twin for Train Vibration Monitoring &amp; Control</a:t>
            </a:r>
            <a:endParaRPr b="0" i="0" sz="2300" u="none" cap="none" strike="noStrike">
              <a:solidFill>
                <a:schemeClr val="dk1"/>
              </a:solidFill>
              <a:latin typeface="Calibri"/>
              <a:ea typeface="Calibri"/>
              <a:cs typeface="Calibri"/>
              <a:sym typeface="Calibri"/>
            </a:endParaRPr>
          </a:p>
        </p:txBody>
      </p:sp>
      <p:sp>
        <p:nvSpPr>
          <p:cNvPr id="19" name="Google Shape;19;p1"/>
          <p:cNvSpPr/>
          <p:nvPr/>
        </p:nvSpPr>
        <p:spPr>
          <a:xfrm>
            <a:off x="411480" y="1371600"/>
            <a:ext cx="576072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050"/>
              <a:buFont typeface="Calibri"/>
              <a:buNone/>
            </a:pPr>
            <a:r>
              <a:rPr b="0" i="0" lang="en-US" sz="1050" u="none" cap="none" strike="noStrike">
                <a:solidFill>
                  <a:srgbClr val="94A3B8"/>
                </a:solidFill>
                <a:latin typeface="Calibri"/>
                <a:ea typeface="Calibri"/>
                <a:cs typeface="Calibri"/>
                <a:sym typeface="Calibri"/>
              </a:rPr>
              <a:t>12-831 Final Project  ·</a:t>
            </a:r>
            <a:r>
              <a:rPr lang="en-US" sz="1050">
                <a:solidFill>
                  <a:srgbClr val="94A3B8"/>
                </a:solidFill>
                <a:latin typeface="Calibri"/>
                <a:ea typeface="Calibri"/>
                <a:cs typeface="Calibri"/>
                <a:sym typeface="Calibri"/>
              </a:rPr>
              <a:t> Abby, </a:t>
            </a:r>
            <a:r>
              <a:rPr lang="en-US" sz="1050">
                <a:solidFill>
                  <a:srgbClr val="94A3B8"/>
                </a:solidFill>
                <a:latin typeface="Calibri"/>
                <a:ea typeface="Calibri"/>
                <a:cs typeface="Calibri"/>
                <a:sym typeface="Calibri"/>
              </a:rPr>
              <a:t>Shiwei, Dharun, Saera</a:t>
            </a:r>
            <a:endParaRPr b="0" i="0" sz="1050" u="none" cap="none" strike="noStrike">
              <a:solidFill>
                <a:schemeClr val="dk1"/>
              </a:solidFill>
              <a:latin typeface="Calibri"/>
              <a:ea typeface="Calibri"/>
              <a:cs typeface="Calibri"/>
              <a:sym typeface="Calibri"/>
            </a:endParaRPr>
          </a:p>
        </p:txBody>
      </p:sp>
      <p:sp>
        <p:nvSpPr>
          <p:cNvPr id="20" name="Google Shape;20;p1"/>
          <p:cNvSpPr/>
          <p:nvPr/>
        </p:nvSpPr>
        <p:spPr>
          <a:xfrm>
            <a:off x="411550" y="1888675"/>
            <a:ext cx="5760600" cy="713100"/>
          </a:xfrm>
          <a:prstGeom prst="rect">
            <a:avLst/>
          </a:prstGeom>
          <a:noFill/>
          <a:ln>
            <a:noFill/>
          </a:ln>
        </p:spPr>
        <p:txBody>
          <a:bodyPr anchorCtr="0" anchor="ctr" bIns="0" lIns="0" spcFirstLastPara="1" rIns="0" wrap="square" tIns="0">
            <a:noAutofit/>
          </a:bodyPr>
          <a:lstStyle/>
          <a:p>
            <a:pPr indent="0" lvl="0" marL="0" marR="0" rtl="0" algn="l">
              <a:lnSpc>
                <a:spcPct val="145000"/>
              </a:lnSpc>
              <a:spcBef>
                <a:spcPts val="0"/>
              </a:spcBef>
              <a:spcAft>
                <a:spcPts val="0"/>
              </a:spcAft>
              <a:buClr>
                <a:srgbClr val="475569"/>
              </a:buClr>
              <a:buSzPts val="950"/>
              <a:buFont typeface="Calibri"/>
              <a:buNone/>
            </a:pPr>
            <a:r>
              <a:rPr b="0" i="0" lang="en-US" sz="1250" u="none" cap="none" strike="noStrike">
                <a:solidFill>
                  <a:schemeClr val="dk1"/>
                </a:solidFill>
                <a:latin typeface="Calibri"/>
                <a:ea typeface="Calibri"/>
                <a:cs typeface="Calibri"/>
                <a:sym typeface="Calibri"/>
              </a:rPr>
              <a:t>This project develops a context-aware monitoring and control system that distinguishes between normal and anomalous operating conditions of a model train.</a:t>
            </a:r>
            <a:endParaRPr b="0" i="0" sz="125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475569"/>
              </a:buClr>
              <a:buSzPts val="950"/>
              <a:buFont typeface="Calibri"/>
              <a:buNone/>
            </a:pPr>
            <a:r>
              <a:rPr b="0" i="0" lang="en-US" sz="1150" u="none" cap="none" strike="noStrike">
                <a:solidFill>
                  <a:schemeClr val="dk1"/>
                </a:solidFill>
                <a:latin typeface="Calibri"/>
                <a:ea typeface="Calibri"/>
                <a:cs typeface="Calibri"/>
                <a:sym typeface="Calibri"/>
              </a:rPr>
              <a:t> </a:t>
            </a:r>
            <a:endParaRPr b="0" i="0" sz="1150" u="none" cap="none" strike="noStrike">
              <a:solidFill>
                <a:schemeClr val="dk1"/>
              </a:solidFill>
              <a:latin typeface="Calibri"/>
              <a:ea typeface="Calibri"/>
              <a:cs typeface="Calibri"/>
              <a:sym typeface="Calibri"/>
            </a:endParaRPr>
          </a:p>
        </p:txBody>
      </p:sp>
      <p:sp>
        <p:nvSpPr>
          <p:cNvPr id="21" name="Google Shape;21;p1"/>
          <p:cNvSpPr/>
          <p:nvPr/>
        </p:nvSpPr>
        <p:spPr>
          <a:xfrm>
            <a:off x="411480" y="3192482"/>
            <a:ext cx="1435500" cy="6858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1"/>
          <p:cNvSpPr/>
          <p:nvPr/>
        </p:nvSpPr>
        <p:spPr>
          <a:xfrm>
            <a:off x="502920" y="3256490"/>
            <a:ext cx="3657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1000"/>
              <a:buFont typeface="Georgia"/>
              <a:buNone/>
            </a:pPr>
            <a:r>
              <a:rPr b="1" i="0" lang="en-US" sz="1000" u="none" cap="none" strike="noStrike">
                <a:solidFill>
                  <a:srgbClr val="2563EB"/>
                </a:solidFill>
                <a:latin typeface="Georgia"/>
                <a:ea typeface="Georgia"/>
                <a:cs typeface="Georgia"/>
                <a:sym typeface="Georgia"/>
              </a:rPr>
              <a:t>M1</a:t>
            </a:r>
            <a:endParaRPr b="0" i="0" sz="1000" u="none" cap="none" strike="noStrike">
              <a:solidFill>
                <a:schemeClr val="dk1"/>
              </a:solidFill>
              <a:latin typeface="Calibri"/>
              <a:ea typeface="Calibri"/>
              <a:cs typeface="Calibri"/>
              <a:sym typeface="Calibri"/>
            </a:endParaRPr>
          </a:p>
        </p:txBody>
      </p:sp>
      <p:sp>
        <p:nvSpPr>
          <p:cNvPr id="23" name="Google Shape;23;p1"/>
          <p:cNvSpPr/>
          <p:nvPr/>
        </p:nvSpPr>
        <p:spPr>
          <a:xfrm>
            <a:off x="502920" y="3448514"/>
            <a:ext cx="1252800" cy="2013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1E293B"/>
              </a:buClr>
              <a:buSzPts val="1050"/>
              <a:buFont typeface="Calibri"/>
              <a:buNone/>
            </a:pPr>
            <a:r>
              <a:rPr b="1" i="0" lang="en-US" sz="1050" u="none" cap="none" strike="noStrike">
                <a:solidFill>
                  <a:srgbClr val="1E293B"/>
                </a:solidFill>
                <a:latin typeface="Calibri"/>
                <a:ea typeface="Calibri"/>
                <a:cs typeface="Calibri"/>
                <a:sym typeface="Calibri"/>
              </a:rPr>
              <a:t>Abby Albrecht</a:t>
            </a:r>
            <a:endParaRPr b="0" i="0" sz="1050" u="none" cap="none" strike="noStrike">
              <a:solidFill>
                <a:schemeClr val="dk1"/>
              </a:solidFill>
              <a:latin typeface="Calibri"/>
              <a:ea typeface="Calibri"/>
              <a:cs typeface="Calibri"/>
              <a:sym typeface="Calibri"/>
            </a:endParaRPr>
          </a:p>
        </p:txBody>
      </p:sp>
      <p:sp>
        <p:nvSpPr>
          <p:cNvPr id="24" name="Google Shape;24;p1"/>
          <p:cNvSpPr/>
          <p:nvPr/>
        </p:nvSpPr>
        <p:spPr>
          <a:xfrm>
            <a:off x="502920" y="3649682"/>
            <a:ext cx="1252800" cy="1830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94A3B8"/>
              </a:buClr>
              <a:buSzPts val="800"/>
              <a:buFont typeface="Calibri"/>
              <a:buNone/>
            </a:pPr>
            <a:r>
              <a:rPr b="0" i="0" lang="en-US" sz="700" u="none" cap="none" strike="noStrike">
                <a:solidFill>
                  <a:srgbClr val="94A3B8"/>
                </a:solidFill>
                <a:latin typeface="Calibri"/>
                <a:ea typeface="Calibri"/>
                <a:cs typeface="Calibri"/>
                <a:sym typeface="Calibri"/>
              </a:rPr>
              <a:t>Data Discovery &amp; Signal Alignment</a:t>
            </a:r>
            <a:endParaRPr b="0" i="0" sz="700" u="none" cap="none" strike="noStrike">
              <a:solidFill>
                <a:schemeClr val="dk1"/>
              </a:solidFill>
              <a:latin typeface="Calibri"/>
              <a:ea typeface="Calibri"/>
              <a:cs typeface="Calibri"/>
              <a:sym typeface="Calibri"/>
            </a:endParaRPr>
          </a:p>
        </p:txBody>
      </p:sp>
      <p:sp>
        <p:nvSpPr>
          <p:cNvPr id="25" name="Google Shape;25;p1"/>
          <p:cNvSpPr/>
          <p:nvPr/>
        </p:nvSpPr>
        <p:spPr>
          <a:xfrm>
            <a:off x="1901952" y="3192482"/>
            <a:ext cx="1435500" cy="6858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1"/>
          <p:cNvSpPr/>
          <p:nvPr/>
        </p:nvSpPr>
        <p:spPr>
          <a:xfrm>
            <a:off x="1993392" y="3256490"/>
            <a:ext cx="3657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9488"/>
              </a:buClr>
              <a:buSzPts val="1000"/>
              <a:buFont typeface="Georgia"/>
              <a:buNone/>
            </a:pPr>
            <a:r>
              <a:rPr b="1" i="0" lang="en-US" sz="1000" u="none" cap="none" strike="noStrike">
                <a:solidFill>
                  <a:srgbClr val="0D9488"/>
                </a:solidFill>
                <a:latin typeface="Georgia"/>
                <a:ea typeface="Georgia"/>
                <a:cs typeface="Georgia"/>
                <a:sym typeface="Georgia"/>
              </a:rPr>
              <a:t>M</a:t>
            </a:r>
            <a:r>
              <a:rPr b="1" i="0" lang="en-US" sz="1000" u="none" cap="none" strike="noStrike">
                <a:solidFill>
                  <a:srgbClr val="0D9488"/>
                </a:solidFill>
                <a:latin typeface="Georgia"/>
                <a:ea typeface="Georgia"/>
                <a:cs typeface="Georgia"/>
                <a:sym typeface="Georgia"/>
              </a:rPr>
              <a:t>2</a:t>
            </a:r>
            <a:endParaRPr b="0" i="0" sz="1000" u="none" cap="none" strike="noStrike">
              <a:solidFill>
                <a:schemeClr val="dk1"/>
              </a:solidFill>
              <a:latin typeface="Calibri"/>
              <a:ea typeface="Calibri"/>
              <a:cs typeface="Calibri"/>
              <a:sym typeface="Calibri"/>
            </a:endParaRPr>
          </a:p>
        </p:txBody>
      </p:sp>
      <p:sp>
        <p:nvSpPr>
          <p:cNvPr id="27" name="Google Shape;27;p1"/>
          <p:cNvSpPr/>
          <p:nvPr/>
        </p:nvSpPr>
        <p:spPr>
          <a:xfrm>
            <a:off x="1993392" y="3448514"/>
            <a:ext cx="1252800" cy="2013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1E293B"/>
              </a:buClr>
              <a:buSzPts val="1050"/>
              <a:buFont typeface="Calibri"/>
              <a:buNone/>
            </a:pPr>
            <a:r>
              <a:rPr b="1" i="0" lang="en-US" sz="1050" u="none" cap="none" strike="noStrike">
                <a:solidFill>
                  <a:srgbClr val="1E293B"/>
                </a:solidFill>
                <a:latin typeface="Calibri"/>
                <a:ea typeface="Calibri"/>
                <a:cs typeface="Calibri"/>
                <a:sym typeface="Calibri"/>
              </a:rPr>
              <a:t>Shiwei Jiang</a:t>
            </a:r>
            <a:endParaRPr b="0" i="0" sz="1050" u="none" cap="none" strike="noStrike">
              <a:solidFill>
                <a:schemeClr val="dk1"/>
              </a:solidFill>
              <a:latin typeface="Calibri"/>
              <a:ea typeface="Calibri"/>
              <a:cs typeface="Calibri"/>
              <a:sym typeface="Calibri"/>
            </a:endParaRPr>
          </a:p>
        </p:txBody>
      </p:sp>
      <p:sp>
        <p:nvSpPr>
          <p:cNvPr id="28" name="Google Shape;28;p1"/>
          <p:cNvSpPr/>
          <p:nvPr/>
        </p:nvSpPr>
        <p:spPr>
          <a:xfrm>
            <a:off x="1993392" y="3649682"/>
            <a:ext cx="1252800" cy="1830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94A3B8"/>
              </a:buClr>
              <a:buSzPts val="800"/>
              <a:buFont typeface="Calibri"/>
              <a:buNone/>
            </a:pPr>
            <a:r>
              <a:rPr b="0" i="0" lang="en-US" sz="700" u="none" cap="none" strike="noStrike">
                <a:solidFill>
                  <a:srgbClr val="94A3B8"/>
                </a:solidFill>
                <a:latin typeface="Calibri"/>
                <a:ea typeface="Calibri"/>
                <a:cs typeface="Calibri"/>
                <a:sym typeface="Calibri"/>
              </a:rPr>
              <a:t>Window Features &amp; Digital Twin</a:t>
            </a:r>
            <a:endParaRPr b="0" i="0" sz="700" u="none" cap="none" strike="noStrike">
              <a:solidFill>
                <a:schemeClr val="dk1"/>
              </a:solidFill>
              <a:latin typeface="Calibri"/>
              <a:ea typeface="Calibri"/>
              <a:cs typeface="Calibri"/>
              <a:sym typeface="Calibri"/>
            </a:endParaRPr>
          </a:p>
        </p:txBody>
      </p:sp>
      <p:sp>
        <p:nvSpPr>
          <p:cNvPr id="29" name="Google Shape;29;p1"/>
          <p:cNvSpPr/>
          <p:nvPr/>
        </p:nvSpPr>
        <p:spPr>
          <a:xfrm>
            <a:off x="3392424" y="3192482"/>
            <a:ext cx="1435500" cy="6858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1"/>
          <p:cNvSpPr/>
          <p:nvPr/>
        </p:nvSpPr>
        <p:spPr>
          <a:xfrm>
            <a:off x="3483864" y="3256490"/>
            <a:ext cx="3657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C3AED"/>
              </a:buClr>
              <a:buSzPts val="1000"/>
              <a:buFont typeface="Georgia"/>
              <a:buNone/>
            </a:pPr>
            <a:r>
              <a:rPr b="1" i="0" lang="en-US" sz="1000" u="none" cap="none" strike="noStrike">
                <a:solidFill>
                  <a:srgbClr val="7C3AED"/>
                </a:solidFill>
                <a:latin typeface="Georgia"/>
                <a:ea typeface="Georgia"/>
                <a:cs typeface="Georgia"/>
                <a:sym typeface="Georgia"/>
              </a:rPr>
              <a:t>M3</a:t>
            </a:r>
            <a:endParaRPr b="0" i="0" sz="1000" u="none" cap="none" strike="noStrike">
              <a:solidFill>
                <a:schemeClr val="dk1"/>
              </a:solidFill>
              <a:latin typeface="Calibri"/>
              <a:ea typeface="Calibri"/>
              <a:cs typeface="Calibri"/>
              <a:sym typeface="Calibri"/>
            </a:endParaRPr>
          </a:p>
        </p:txBody>
      </p:sp>
      <p:sp>
        <p:nvSpPr>
          <p:cNvPr id="31" name="Google Shape;31;p1"/>
          <p:cNvSpPr/>
          <p:nvPr/>
        </p:nvSpPr>
        <p:spPr>
          <a:xfrm>
            <a:off x="3483864" y="3448514"/>
            <a:ext cx="1252800" cy="2013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1E293B"/>
              </a:buClr>
              <a:buSzPts val="1050"/>
              <a:buFont typeface="Calibri"/>
              <a:buNone/>
            </a:pPr>
            <a:r>
              <a:rPr b="1" i="0" lang="en-US" sz="1050" u="none" cap="none" strike="noStrike">
                <a:solidFill>
                  <a:srgbClr val="1E293B"/>
                </a:solidFill>
                <a:latin typeface="Calibri"/>
                <a:ea typeface="Calibri"/>
                <a:cs typeface="Calibri"/>
                <a:sym typeface="Calibri"/>
              </a:rPr>
              <a:t>Dhuran Muthaiah</a:t>
            </a:r>
            <a:endParaRPr b="0" i="0" sz="1050" u="none" cap="none" strike="noStrike">
              <a:solidFill>
                <a:schemeClr val="dk1"/>
              </a:solidFill>
              <a:latin typeface="Calibri"/>
              <a:ea typeface="Calibri"/>
              <a:cs typeface="Calibri"/>
              <a:sym typeface="Calibri"/>
            </a:endParaRPr>
          </a:p>
        </p:txBody>
      </p:sp>
      <p:sp>
        <p:nvSpPr>
          <p:cNvPr id="32" name="Google Shape;32;p1"/>
          <p:cNvSpPr/>
          <p:nvPr/>
        </p:nvSpPr>
        <p:spPr>
          <a:xfrm>
            <a:off x="3483864" y="3649682"/>
            <a:ext cx="1252800" cy="1830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94A3B8"/>
              </a:buClr>
              <a:buSzPts val="800"/>
              <a:buFont typeface="Calibri"/>
              <a:buNone/>
            </a:pPr>
            <a:r>
              <a:rPr b="0" i="0" lang="en-US" sz="700" u="none" cap="none" strike="noStrike">
                <a:solidFill>
                  <a:srgbClr val="94A3B8"/>
                </a:solidFill>
                <a:latin typeface="Calibri"/>
                <a:ea typeface="Calibri"/>
                <a:cs typeface="Calibri"/>
                <a:sym typeface="Calibri"/>
              </a:rPr>
              <a:t>AI Classification &amp; Decision Logic</a:t>
            </a:r>
            <a:endParaRPr b="0" i="0" sz="700" u="none" cap="none" strike="noStrike">
              <a:solidFill>
                <a:schemeClr val="dk1"/>
              </a:solidFill>
              <a:latin typeface="Calibri"/>
              <a:ea typeface="Calibri"/>
              <a:cs typeface="Calibri"/>
              <a:sym typeface="Calibri"/>
            </a:endParaRPr>
          </a:p>
        </p:txBody>
      </p:sp>
      <p:sp>
        <p:nvSpPr>
          <p:cNvPr id="33" name="Google Shape;33;p1"/>
          <p:cNvSpPr/>
          <p:nvPr/>
        </p:nvSpPr>
        <p:spPr>
          <a:xfrm>
            <a:off x="4882896" y="3192482"/>
            <a:ext cx="1435500" cy="6858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1"/>
          <p:cNvSpPr/>
          <p:nvPr/>
        </p:nvSpPr>
        <p:spPr>
          <a:xfrm>
            <a:off x="4974336" y="3256490"/>
            <a:ext cx="3657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A580C"/>
              </a:buClr>
              <a:buSzPts val="1000"/>
              <a:buFont typeface="Georgia"/>
              <a:buNone/>
            </a:pPr>
            <a:r>
              <a:rPr b="1" i="0" lang="en-US" sz="1000" u="none" cap="none" strike="noStrike">
                <a:solidFill>
                  <a:srgbClr val="EA580C"/>
                </a:solidFill>
                <a:latin typeface="Georgia"/>
                <a:ea typeface="Georgia"/>
                <a:cs typeface="Georgia"/>
                <a:sym typeface="Georgia"/>
              </a:rPr>
              <a:t>M4</a:t>
            </a:r>
            <a:endParaRPr b="0" i="0" sz="1000" u="none" cap="none" strike="noStrike">
              <a:solidFill>
                <a:schemeClr val="dk1"/>
              </a:solidFill>
              <a:latin typeface="Calibri"/>
              <a:ea typeface="Calibri"/>
              <a:cs typeface="Calibri"/>
              <a:sym typeface="Calibri"/>
            </a:endParaRPr>
          </a:p>
        </p:txBody>
      </p:sp>
      <p:sp>
        <p:nvSpPr>
          <p:cNvPr id="35" name="Google Shape;35;p1"/>
          <p:cNvSpPr/>
          <p:nvPr/>
        </p:nvSpPr>
        <p:spPr>
          <a:xfrm>
            <a:off x="4974336" y="3448514"/>
            <a:ext cx="1252800" cy="2013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1E293B"/>
              </a:buClr>
              <a:buSzPts val="1050"/>
              <a:buFont typeface="Calibri"/>
              <a:buNone/>
            </a:pPr>
            <a:r>
              <a:rPr b="1" i="0" lang="en-US" sz="1050" u="none" cap="none" strike="noStrike">
                <a:solidFill>
                  <a:srgbClr val="1E293B"/>
                </a:solidFill>
                <a:latin typeface="Calibri"/>
                <a:ea typeface="Calibri"/>
                <a:cs typeface="Calibri"/>
                <a:sym typeface="Calibri"/>
              </a:rPr>
              <a:t>Saera Park</a:t>
            </a:r>
            <a:endParaRPr b="0" i="0" sz="1050" u="none" cap="none" strike="noStrike">
              <a:solidFill>
                <a:schemeClr val="dk1"/>
              </a:solidFill>
              <a:latin typeface="Calibri"/>
              <a:ea typeface="Calibri"/>
              <a:cs typeface="Calibri"/>
              <a:sym typeface="Calibri"/>
            </a:endParaRPr>
          </a:p>
        </p:txBody>
      </p:sp>
      <p:sp>
        <p:nvSpPr>
          <p:cNvPr id="36" name="Google Shape;36;p1"/>
          <p:cNvSpPr/>
          <p:nvPr/>
        </p:nvSpPr>
        <p:spPr>
          <a:xfrm>
            <a:off x="4974336" y="3649682"/>
            <a:ext cx="1252800" cy="1830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94A3B8"/>
              </a:buClr>
              <a:buSzPts val="800"/>
              <a:buFont typeface="Calibri"/>
              <a:buNone/>
            </a:pPr>
            <a:r>
              <a:rPr b="0" i="0" lang="en-US" sz="700" u="none" cap="none" strike="noStrike">
                <a:solidFill>
                  <a:srgbClr val="94A3B8"/>
                </a:solidFill>
                <a:latin typeface="Calibri"/>
                <a:ea typeface="Calibri"/>
                <a:cs typeface="Calibri"/>
                <a:sym typeface="Calibri"/>
              </a:rPr>
              <a:t>End-to-End Evaluation</a:t>
            </a:r>
            <a:endParaRPr b="0" i="0" sz="700" u="none" cap="none" strike="noStrike">
              <a:solidFill>
                <a:schemeClr val="dk1"/>
              </a:solidFill>
              <a:latin typeface="Calibri"/>
              <a:ea typeface="Calibri"/>
              <a:cs typeface="Calibri"/>
              <a:sym typeface="Calibri"/>
            </a:endParaRPr>
          </a:p>
        </p:txBody>
      </p:sp>
      <p:sp>
        <p:nvSpPr>
          <p:cNvPr id="37" name="Google Shape;37;p1"/>
          <p:cNvSpPr/>
          <p:nvPr/>
        </p:nvSpPr>
        <p:spPr>
          <a:xfrm>
            <a:off x="411480" y="3988010"/>
            <a:ext cx="1435500" cy="71310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1"/>
          <p:cNvSpPr/>
          <p:nvPr/>
        </p:nvSpPr>
        <p:spPr>
          <a:xfrm>
            <a:off x="502920" y="4042874"/>
            <a:ext cx="12528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2200"/>
              <a:buFont typeface="Georgia"/>
              <a:buNone/>
            </a:pPr>
            <a:r>
              <a:rPr b="1" i="0" lang="en-US" sz="2200" u="none" cap="none" strike="noStrike">
                <a:solidFill>
                  <a:srgbClr val="1E293B"/>
                </a:solidFill>
                <a:latin typeface="Georgia"/>
                <a:ea typeface="Georgia"/>
                <a:cs typeface="Georgia"/>
                <a:sym typeface="Georgia"/>
              </a:rPr>
              <a:t>108</a:t>
            </a:r>
            <a:endParaRPr b="0" i="0" sz="2200" u="none" cap="none" strike="noStrike">
              <a:solidFill>
                <a:schemeClr val="dk1"/>
              </a:solidFill>
              <a:latin typeface="Calibri"/>
              <a:ea typeface="Calibri"/>
              <a:cs typeface="Calibri"/>
              <a:sym typeface="Calibri"/>
            </a:endParaRPr>
          </a:p>
        </p:txBody>
      </p:sp>
      <p:sp>
        <p:nvSpPr>
          <p:cNvPr id="39" name="Google Shape;39;p1"/>
          <p:cNvSpPr/>
          <p:nvPr/>
        </p:nvSpPr>
        <p:spPr>
          <a:xfrm>
            <a:off x="502920" y="4426922"/>
            <a:ext cx="12528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750"/>
              <a:buFont typeface="Calibri"/>
              <a:buNone/>
            </a:pPr>
            <a:r>
              <a:rPr b="0" i="0" lang="en-US" sz="750" u="none" cap="none" strike="noStrike">
                <a:solidFill>
                  <a:srgbClr val="94A3B8"/>
                </a:solidFill>
                <a:latin typeface="Calibri"/>
                <a:ea typeface="Calibri"/>
                <a:cs typeface="Calibri"/>
                <a:sym typeface="Calibri"/>
              </a:rPr>
              <a:t>RUNS</a:t>
            </a:r>
            <a:endParaRPr b="0" i="0" sz="750" u="none" cap="none" strike="noStrike">
              <a:solidFill>
                <a:schemeClr val="dk1"/>
              </a:solidFill>
              <a:latin typeface="Calibri"/>
              <a:ea typeface="Calibri"/>
              <a:cs typeface="Calibri"/>
              <a:sym typeface="Calibri"/>
            </a:endParaRPr>
          </a:p>
        </p:txBody>
      </p:sp>
      <p:sp>
        <p:nvSpPr>
          <p:cNvPr id="40" name="Google Shape;40;p1"/>
          <p:cNvSpPr/>
          <p:nvPr/>
        </p:nvSpPr>
        <p:spPr>
          <a:xfrm>
            <a:off x="1901952" y="3988010"/>
            <a:ext cx="1435500" cy="71310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1"/>
          <p:cNvSpPr/>
          <p:nvPr/>
        </p:nvSpPr>
        <p:spPr>
          <a:xfrm>
            <a:off x="1993392" y="4042874"/>
            <a:ext cx="12528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2200"/>
              <a:buFont typeface="Georgia"/>
              <a:buNone/>
            </a:pPr>
            <a:r>
              <a:rPr b="1" i="0" lang="en-US" sz="2200" u="none" cap="none" strike="noStrike">
                <a:solidFill>
                  <a:srgbClr val="1E293B"/>
                </a:solidFill>
                <a:latin typeface="Georgia"/>
                <a:ea typeface="Georgia"/>
                <a:cs typeface="Georgia"/>
                <a:sym typeface="Georgia"/>
              </a:rPr>
              <a:t>4,239</a:t>
            </a:r>
            <a:endParaRPr b="0" i="0" sz="2200" u="none" cap="none" strike="noStrike">
              <a:solidFill>
                <a:schemeClr val="dk1"/>
              </a:solidFill>
              <a:latin typeface="Calibri"/>
              <a:ea typeface="Calibri"/>
              <a:cs typeface="Calibri"/>
              <a:sym typeface="Calibri"/>
            </a:endParaRPr>
          </a:p>
        </p:txBody>
      </p:sp>
      <p:sp>
        <p:nvSpPr>
          <p:cNvPr id="42" name="Google Shape;42;p1"/>
          <p:cNvSpPr/>
          <p:nvPr/>
        </p:nvSpPr>
        <p:spPr>
          <a:xfrm>
            <a:off x="1993392" y="4426922"/>
            <a:ext cx="12528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750"/>
              <a:buFont typeface="Calibri"/>
              <a:buNone/>
            </a:pPr>
            <a:r>
              <a:rPr b="0" i="0" lang="en-US" sz="750" u="none" cap="none" strike="noStrike">
                <a:solidFill>
                  <a:srgbClr val="94A3B8"/>
                </a:solidFill>
                <a:latin typeface="Calibri"/>
                <a:ea typeface="Calibri"/>
                <a:cs typeface="Calibri"/>
                <a:sym typeface="Calibri"/>
              </a:rPr>
              <a:t>WINDOWS</a:t>
            </a:r>
            <a:endParaRPr b="0" i="0" sz="750" u="none" cap="none" strike="noStrike">
              <a:solidFill>
                <a:schemeClr val="dk1"/>
              </a:solidFill>
              <a:latin typeface="Calibri"/>
              <a:ea typeface="Calibri"/>
              <a:cs typeface="Calibri"/>
              <a:sym typeface="Calibri"/>
            </a:endParaRPr>
          </a:p>
        </p:txBody>
      </p:sp>
      <p:sp>
        <p:nvSpPr>
          <p:cNvPr id="43" name="Google Shape;43;p1"/>
          <p:cNvSpPr/>
          <p:nvPr/>
        </p:nvSpPr>
        <p:spPr>
          <a:xfrm>
            <a:off x="3392424" y="3988010"/>
            <a:ext cx="1435500" cy="71310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1"/>
          <p:cNvSpPr/>
          <p:nvPr/>
        </p:nvSpPr>
        <p:spPr>
          <a:xfrm>
            <a:off x="3483864" y="4042874"/>
            <a:ext cx="12528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2200"/>
              <a:buFont typeface="Georgia"/>
              <a:buNone/>
            </a:pPr>
            <a:r>
              <a:rPr b="1" i="0" lang="en-US" sz="2200" u="none" cap="none" strike="noStrike">
                <a:solidFill>
                  <a:srgbClr val="1E293B"/>
                </a:solidFill>
                <a:latin typeface="Georgia"/>
                <a:ea typeface="Georgia"/>
                <a:cs typeface="Georgia"/>
                <a:sym typeface="Georgia"/>
              </a:rPr>
              <a:t>2</a:t>
            </a:r>
            <a:endParaRPr b="0" i="0" sz="2200" u="none" cap="none" strike="noStrike">
              <a:solidFill>
                <a:schemeClr val="dk1"/>
              </a:solidFill>
              <a:latin typeface="Calibri"/>
              <a:ea typeface="Calibri"/>
              <a:cs typeface="Calibri"/>
              <a:sym typeface="Calibri"/>
            </a:endParaRPr>
          </a:p>
        </p:txBody>
      </p:sp>
      <p:sp>
        <p:nvSpPr>
          <p:cNvPr id="45" name="Google Shape;45;p1"/>
          <p:cNvSpPr/>
          <p:nvPr/>
        </p:nvSpPr>
        <p:spPr>
          <a:xfrm>
            <a:off x="3483864" y="4426922"/>
            <a:ext cx="12528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750"/>
              <a:buFont typeface="Calibri"/>
              <a:buNone/>
            </a:pPr>
            <a:r>
              <a:rPr b="0" i="0" lang="en-US" sz="750" u="none" cap="none" strike="noStrike">
                <a:solidFill>
                  <a:srgbClr val="94A3B8"/>
                </a:solidFill>
                <a:latin typeface="Calibri"/>
                <a:ea typeface="Calibri"/>
                <a:cs typeface="Calibri"/>
                <a:sym typeface="Calibri"/>
              </a:rPr>
              <a:t>MATERIALS</a:t>
            </a:r>
            <a:endParaRPr b="0" i="0" sz="750" u="none" cap="none" strike="noStrike">
              <a:solidFill>
                <a:schemeClr val="dk1"/>
              </a:solidFill>
              <a:latin typeface="Calibri"/>
              <a:ea typeface="Calibri"/>
              <a:cs typeface="Calibri"/>
              <a:sym typeface="Calibri"/>
            </a:endParaRPr>
          </a:p>
        </p:txBody>
      </p:sp>
      <p:sp>
        <p:nvSpPr>
          <p:cNvPr id="46" name="Google Shape;46;p1"/>
          <p:cNvSpPr/>
          <p:nvPr/>
        </p:nvSpPr>
        <p:spPr>
          <a:xfrm>
            <a:off x="4882896" y="3988010"/>
            <a:ext cx="1435500" cy="71310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1"/>
          <p:cNvSpPr/>
          <p:nvPr/>
        </p:nvSpPr>
        <p:spPr>
          <a:xfrm>
            <a:off x="4974336" y="4042874"/>
            <a:ext cx="12528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2200"/>
              <a:buFont typeface="Georgia"/>
              <a:buNone/>
            </a:pPr>
            <a:r>
              <a:rPr b="1" i="0" lang="en-US" sz="2200" u="none" cap="none" strike="noStrike">
                <a:solidFill>
                  <a:srgbClr val="1E293B"/>
                </a:solidFill>
                <a:latin typeface="Georgia"/>
                <a:ea typeface="Georgia"/>
                <a:cs typeface="Georgia"/>
                <a:sym typeface="Georgia"/>
              </a:rPr>
              <a:t>12</a:t>
            </a:r>
            <a:endParaRPr b="0" i="0" sz="2200" u="none" cap="none" strike="noStrike">
              <a:solidFill>
                <a:schemeClr val="dk1"/>
              </a:solidFill>
              <a:latin typeface="Calibri"/>
              <a:ea typeface="Calibri"/>
              <a:cs typeface="Calibri"/>
              <a:sym typeface="Calibri"/>
            </a:endParaRPr>
          </a:p>
        </p:txBody>
      </p:sp>
      <p:sp>
        <p:nvSpPr>
          <p:cNvPr id="48" name="Google Shape;48;p1"/>
          <p:cNvSpPr/>
          <p:nvPr/>
        </p:nvSpPr>
        <p:spPr>
          <a:xfrm>
            <a:off x="4974336" y="4426922"/>
            <a:ext cx="12528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750"/>
              <a:buFont typeface="Calibri"/>
              <a:buNone/>
            </a:pPr>
            <a:r>
              <a:rPr b="0" i="0" lang="en-US" sz="750" u="none" cap="none" strike="noStrike">
                <a:solidFill>
                  <a:srgbClr val="94A3B8"/>
                </a:solidFill>
                <a:latin typeface="Calibri"/>
                <a:ea typeface="Calibri"/>
                <a:cs typeface="Calibri"/>
                <a:sym typeface="Calibri"/>
              </a:rPr>
              <a:t>CONDITIONS</a:t>
            </a:r>
            <a:endParaRPr b="0" i="0" sz="750" u="none" cap="none" strike="noStrike">
              <a:solidFill>
                <a:schemeClr val="dk1"/>
              </a:solidFill>
              <a:latin typeface="Calibri"/>
              <a:ea typeface="Calibri"/>
              <a:cs typeface="Calibri"/>
              <a:sym typeface="Calibri"/>
            </a:endParaRPr>
          </a:p>
        </p:txBody>
      </p:sp>
      <p:sp>
        <p:nvSpPr>
          <p:cNvPr id="49" name="Google Shape;49;p1"/>
          <p:cNvSpPr/>
          <p:nvPr/>
        </p:nvSpPr>
        <p:spPr>
          <a:xfrm>
            <a:off x="6446520" y="0"/>
            <a:ext cx="2697480" cy="5143500"/>
          </a:xfrm>
          <a:prstGeom prst="rect">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0" name="Google Shape;50;p1"/>
          <p:cNvPicPr preferRelativeResize="0"/>
          <p:nvPr/>
        </p:nvPicPr>
        <p:blipFill rotWithShape="1">
          <a:blip r:embed="rId3">
            <a:alphaModFix/>
          </a:blip>
          <a:srcRect b="0" l="15125" r="14950" t="0"/>
          <a:stretch/>
        </p:blipFill>
        <p:spPr>
          <a:xfrm>
            <a:off x="6446525" y="61750"/>
            <a:ext cx="2697474" cy="51434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 name="Shape 55"/>
        <p:cNvGrpSpPr/>
        <p:nvPr/>
      </p:nvGrpSpPr>
      <p:grpSpPr>
        <a:xfrm>
          <a:off x="0" y="0"/>
          <a:ext cx="0" cy="0"/>
          <a:chOff x="0" y="0"/>
          <a:chExt cx="0" cy="0"/>
        </a:xfrm>
      </p:grpSpPr>
      <p:sp>
        <p:nvSpPr>
          <p:cNvPr id="56" name="Google Shape;56;p2"/>
          <p:cNvSpPr/>
          <p:nvPr/>
        </p:nvSpPr>
        <p:spPr>
          <a:xfrm>
            <a:off x="0" y="0"/>
            <a:ext cx="54864" cy="5143500"/>
          </a:xfrm>
          <a:prstGeom prst="rect">
            <a:avLst/>
          </a:prstGeom>
          <a:solidFill>
            <a:srgbClr val="2563EB"/>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2"/>
          <p:cNvSpPr/>
          <p:nvPr/>
        </p:nvSpPr>
        <p:spPr>
          <a:xfrm>
            <a:off x="411480" y="256032"/>
            <a:ext cx="73152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00"/>
              <a:buFont typeface="Calibri"/>
              <a:buNone/>
            </a:pPr>
            <a:r>
              <a:rPr b="1" i="0" lang="en-US" sz="800" u="none" cap="none" strike="noStrike">
                <a:solidFill>
                  <a:srgbClr val="94A3B8"/>
                </a:solidFill>
                <a:latin typeface="Calibri"/>
                <a:ea typeface="Calibri"/>
                <a:cs typeface="Calibri"/>
                <a:sym typeface="Calibri"/>
              </a:rPr>
              <a:t>SYSTEM OVERVIEW</a:t>
            </a:r>
            <a:endParaRPr b="0" i="0" sz="800" u="none" cap="none" strike="noStrike">
              <a:solidFill>
                <a:schemeClr val="dk1"/>
              </a:solidFill>
              <a:latin typeface="Calibri"/>
              <a:ea typeface="Calibri"/>
              <a:cs typeface="Calibri"/>
              <a:sym typeface="Calibri"/>
            </a:endParaRPr>
          </a:p>
        </p:txBody>
      </p:sp>
      <p:sp>
        <p:nvSpPr>
          <p:cNvPr id="58" name="Google Shape;58;p2"/>
          <p:cNvSpPr/>
          <p:nvPr/>
        </p:nvSpPr>
        <p:spPr>
          <a:xfrm>
            <a:off x="411480" y="475488"/>
            <a:ext cx="7772400" cy="6583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1E293B"/>
              </a:buClr>
              <a:buSzPts val="2400"/>
              <a:buFont typeface="Georgia"/>
              <a:buNone/>
            </a:pPr>
            <a:r>
              <a:rPr b="1" i="0" lang="en-US" sz="2400" u="none" cap="none" strike="noStrike">
                <a:solidFill>
                  <a:srgbClr val="1E293B"/>
                </a:solidFill>
                <a:latin typeface="Georgia"/>
                <a:ea typeface="Georgia"/>
                <a:cs typeface="Georgia"/>
                <a:sym typeface="Georgia"/>
              </a:rPr>
              <a:t>How the Full Pipeline Works</a:t>
            </a:r>
            <a:endParaRPr b="0" i="0" sz="2400" u="none" cap="none" strike="noStrike">
              <a:solidFill>
                <a:schemeClr val="dk1"/>
              </a:solidFill>
              <a:latin typeface="Calibri"/>
              <a:ea typeface="Calibri"/>
              <a:cs typeface="Calibri"/>
              <a:sym typeface="Calibri"/>
            </a:endParaRPr>
          </a:p>
        </p:txBody>
      </p:sp>
      <p:sp>
        <p:nvSpPr>
          <p:cNvPr id="59" name="Google Shape;59;p2"/>
          <p:cNvSpPr/>
          <p:nvPr/>
        </p:nvSpPr>
        <p:spPr>
          <a:xfrm>
            <a:off x="411480" y="1188720"/>
            <a:ext cx="8321040" cy="9144"/>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2"/>
          <p:cNvSpPr/>
          <p:nvPr/>
        </p:nvSpPr>
        <p:spPr>
          <a:xfrm>
            <a:off x="7863840" y="256032"/>
            <a:ext cx="86868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900"/>
              <a:buFont typeface="Calibri"/>
              <a:buNone/>
            </a:pPr>
            <a:r>
              <a:rPr b="0" i="0" lang="en-US" sz="900" u="none" cap="none" strike="noStrike">
                <a:solidFill>
                  <a:srgbClr val="94A3B8"/>
                </a:solidFill>
                <a:latin typeface="Calibri"/>
                <a:ea typeface="Calibri"/>
                <a:cs typeface="Calibri"/>
                <a:sym typeface="Calibri"/>
              </a:rPr>
              <a:t>2 / 8</a:t>
            </a:r>
            <a:endParaRPr b="0" i="0" sz="900" u="none" cap="none" strike="noStrike">
              <a:solidFill>
                <a:schemeClr val="dk1"/>
              </a:solidFill>
              <a:latin typeface="Calibri"/>
              <a:ea typeface="Calibri"/>
              <a:cs typeface="Calibri"/>
              <a:sym typeface="Calibri"/>
            </a:endParaRPr>
          </a:p>
        </p:txBody>
      </p:sp>
      <p:sp>
        <p:nvSpPr>
          <p:cNvPr id="61" name="Google Shape;61;p2"/>
          <p:cNvSpPr/>
          <p:nvPr/>
        </p:nvSpPr>
        <p:spPr>
          <a:xfrm>
            <a:off x="411480" y="1689749"/>
            <a:ext cx="1572900" cy="13899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2"/>
          <p:cNvSpPr/>
          <p:nvPr/>
        </p:nvSpPr>
        <p:spPr>
          <a:xfrm>
            <a:off x="502920" y="1772045"/>
            <a:ext cx="1389900" cy="1830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94A3B8"/>
              </a:buClr>
              <a:buSzPts val="700"/>
              <a:buFont typeface="Calibri"/>
              <a:buNone/>
            </a:pPr>
            <a:r>
              <a:rPr b="1" i="0" lang="en-US" sz="700" u="none" cap="none" strike="noStrike">
                <a:solidFill>
                  <a:srgbClr val="94A3B8"/>
                </a:solidFill>
                <a:latin typeface="Calibri"/>
                <a:ea typeface="Calibri"/>
                <a:cs typeface="Calibri"/>
                <a:sym typeface="Calibri"/>
              </a:rPr>
              <a:t>INPUT</a:t>
            </a:r>
            <a:endParaRPr b="0" i="0" sz="700" u="none" cap="none" strike="noStrike">
              <a:solidFill>
                <a:schemeClr val="dk1"/>
              </a:solidFill>
              <a:latin typeface="Calibri"/>
              <a:ea typeface="Calibri"/>
              <a:cs typeface="Calibri"/>
              <a:sym typeface="Calibri"/>
            </a:endParaRPr>
          </a:p>
        </p:txBody>
      </p:sp>
      <p:sp>
        <p:nvSpPr>
          <p:cNvPr id="63" name="Google Shape;63;p2"/>
          <p:cNvSpPr/>
          <p:nvPr/>
        </p:nvSpPr>
        <p:spPr>
          <a:xfrm>
            <a:off x="502920" y="1964069"/>
            <a:ext cx="1389900" cy="2925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1E293B"/>
              </a:buClr>
              <a:buSzPts val="1300"/>
              <a:buFont typeface="Georgia"/>
              <a:buNone/>
            </a:pPr>
            <a:r>
              <a:rPr b="1" i="0" lang="en-US" sz="1300" u="none" cap="none" strike="noStrike">
                <a:solidFill>
                  <a:srgbClr val="1E293B"/>
                </a:solidFill>
                <a:latin typeface="Georgia"/>
                <a:ea typeface="Georgia"/>
                <a:cs typeface="Georgia"/>
                <a:sym typeface="Georgia"/>
              </a:rPr>
              <a:t>Raw Sensor Data</a:t>
            </a:r>
            <a:endParaRPr b="0" i="0" sz="1300" u="none" cap="none" strike="noStrike">
              <a:solidFill>
                <a:schemeClr val="dk1"/>
              </a:solidFill>
              <a:latin typeface="Calibri"/>
              <a:ea typeface="Calibri"/>
              <a:cs typeface="Calibri"/>
              <a:sym typeface="Calibri"/>
            </a:endParaRPr>
          </a:p>
        </p:txBody>
      </p:sp>
      <p:sp>
        <p:nvSpPr>
          <p:cNvPr id="64" name="Google Shape;64;p2"/>
          <p:cNvSpPr/>
          <p:nvPr/>
        </p:nvSpPr>
        <p:spPr>
          <a:xfrm>
            <a:off x="502920" y="2284109"/>
            <a:ext cx="1389900" cy="75900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475569"/>
              </a:buClr>
              <a:buSzPts val="950"/>
              <a:buFont typeface="Calibri"/>
              <a:buNone/>
            </a:pPr>
            <a:r>
              <a:rPr b="0" i="0" lang="en-US" sz="950" u="none" cap="none" strike="noStrike">
                <a:solidFill>
                  <a:srgbClr val="475569"/>
                </a:solidFill>
                <a:latin typeface="Calibri"/>
                <a:ea typeface="Calibri"/>
                <a:cs typeface="Calibri"/>
                <a:sym typeface="Calibri"/>
              </a:rPr>
              <a:t>Arduino (pos, vel, phase)</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950"/>
              <a:buFont typeface="Calibri"/>
              <a:buNone/>
            </a:pPr>
            <a:r>
              <a:rPr b="0" i="0" lang="en-US" sz="950" u="none" cap="none" strike="noStrike">
                <a:solidFill>
                  <a:srgbClr val="475569"/>
                </a:solidFill>
                <a:latin typeface="Calibri"/>
                <a:ea typeface="Calibri"/>
                <a:cs typeface="Calibri"/>
                <a:sym typeface="Calibri"/>
              </a:rPr>
              <a:t>+ DAQ g4 &amp; g5 at 1000hz</a:t>
            </a:r>
            <a:endParaRPr b="0" i="0" sz="950" u="none" cap="none" strike="noStrike">
              <a:solidFill>
                <a:schemeClr val="dk1"/>
              </a:solidFill>
              <a:latin typeface="Calibri"/>
              <a:ea typeface="Calibri"/>
              <a:cs typeface="Calibri"/>
              <a:sym typeface="Calibri"/>
            </a:endParaRPr>
          </a:p>
        </p:txBody>
      </p:sp>
      <p:sp>
        <p:nvSpPr>
          <p:cNvPr id="65" name="Google Shape;65;p2"/>
          <p:cNvSpPr/>
          <p:nvPr/>
        </p:nvSpPr>
        <p:spPr>
          <a:xfrm>
            <a:off x="1993392" y="2247533"/>
            <a:ext cx="639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4A3B8"/>
              </a:buClr>
              <a:buSzPts val="1300"/>
              <a:buFont typeface="Calibri"/>
              <a:buNone/>
            </a:pPr>
            <a:r>
              <a:rPr b="0" i="0" lang="en-US" sz="1300" u="none" cap="none" strike="noStrike">
                <a:solidFill>
                  <a:srgbClr val="94A3B8"/>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66" name="Google Shape;66;p2"/>
          <p:cNvSpPr/>
          <p:nvPr/>
        </p:nvSpPr>
        <p:spPr>
          <a:xfrm>
            <a:off x="2057400" y="1689749"/>
            <a:ext cx="1572900" cy="1389900"/>
          </a:xfrm>
          <a:prstGeom prst="rect">
            <a:avLst/>
          </a:prstGeom>
          <a:solidFill>
            <a:srgbClr val="EFF6FF"/>
          </a:solidFill>
          <a:ln cap="flat" cmpd="sng" w="9525">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2"/>
          <p:cNvSpPr/>
          <p:nvPr/>
        </p:nvSpPr>
        <p:spPr>
          <a:xfrm>
            <a:off x="2148840" y="1772045"/>
            <a:ext cx="1389900" cy="1830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2563EB"/>
              </a:buClr>
              <a:buSzPts val="700"/>
              <a:buFont typeface="Calibri"/>
              <a:buNone/>
            </a:pPr>
            <a:r>
              <a:rPr b="1" i="0" lang="en-US" sz="700" u="none" cap="none" strike="noStrike">
                <a:solidFill>
                  <a:srgbClr val="2563EB"/>
                </a:solidFill>
                <a:latin typeface="Calibri"/>
                <a:ea typeface="Calibri"/>
                <a:cs typeface="Calibri"/>
                <a:sym typeface="Calibri"/>
              </a:rPr>
              <a:t>MEMBER 1 · ABBY ALBRECHT</a:t>
            </a:r>
            <a:endParaRPr b="0" i="0" sz="700" u="none" cap="none" strike="noStrike">
              <a:solidFill>
                <a:schemeClr val="dk1"/>
              </a:solidFill>
              <a:latin typeface="Calibri"/>
              <a:ea typeface="Calibri"/>
              <a:cs typeface="Calibri"/>
              <a:sym typeface="Calibri"/>
            </a:endParaRPr>
          </a:p>
        </p:txBody>
      </p:sp>
      <p:sp>
        <p:nvSpPr>
          <p:cNvPr id="68" name="Google Shape;68;p2"/>
          <p:cNvSpPr/>
          <p:nvPr/>
        </p:nvSpPr>
        <p:spPr>
          <a:xfrm>
            <a:off x="2148840" y="1964069"/>
            <a:ext cx="1389900" cy="2925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1E293B"/>
              </a:buClr>
              <a:buSzPts val="1300"/>
              <a:buFont typeface="Georgia"/>
              <a:buNone/>
            </a:pPr>
            <a:r>
              <a:rPr b="1" i="0" lang="en-US" sz="1300" u="none" cap="none" strike="noStrike">
                <a:solidFill>
                  <a:srgbClr val="1E293B"/>
                </a:solidFill>
                <a:latin typeface="Georgia"/>
                <a:ea typeface="Georgia"/>
                <a:cs typeface="Georgia"/>
                <a:sym typeface="Georgia"/>
              </a:rPr>
              <a:t>Signal Alignment</a:t>
            </a:r>
            <a:endParaRPr b="0" i="0" sz="1300" u="none" cap="none" strike="noStrike">
              <a:solidFill>
                <a:schemeClr val="dk1"/>
              </a:solidFill>
              <a:latin typeface="Calibri"/>
              <a:ea typeface="Calibri"/>
              <a:cs typeface="Calibri"/>
              <a:sym typeface="Calibri"/>
            </a:endParaRPr>
          </a:p>
        </p:txBody>
      </p:sp>
      <p:sp>
        <p:nvSpPr>
          <p:cNvPr id="69" name="Google Shape;69;p2"/>
          <p:cNvSpPr/>
          <p:nvPr/>
        </p:nvSpPr>
        <p:spPr>
          <a:xfrm>
            <a:off x="2148840" y="2284109"/>
            <a:ext cx="1389900" cy="75900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475569"/>
              </a:buClr>
              <a:buSzPts val="950"/>
              <a:buFont typeface="Calibri"/>
              <a:buNone/>
            </a:pPr>
            <a:r>
              <a:rPr b="0" i="0" lang="en-US" sz="950" u="none" cap="none" strike="noStrike">
                <a:solidFill>
                  <a:srgbClr val="475569"/>
                </a:solidFill>
                <a:latin typeface="Calibri"/>
                <a:ea typeface="Calibri"/>
                <a:cs typeface="Calibri"/>
                <a:sym typeface="Calibri"/>
              </a:rPr>
              <a:t>Discover 108 runs</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950"/>
              <a:buFont typeface="Calibri"/>
              <a:buNone/>
            </a:pPr>
            <a:r>
              <a:rPr b="0" i="0" lang="en-US" sz="950" u="none" cap="none" strike="noStrike">
                <a:solidFill>
                  <a:srgbClr val="475569"/>
                </a:solidFill>
                <a:latin typeface="Calibri"/>
                <a:ea typeface="Calibri"/>
                <a:cs typeface="Calibri"/>
                <a:sym typeface="Calibri"/>
              </a:rPr>
              <a:t>Parse labels</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950"/>
              <a:buFont typeface="Calibri"/>
              <a:buNone/>
            </a:pPr>
            <a:r>
              <a:rPr b="0" i="0" lang="en-US" sz="950" u="none" cap="none" strike="noStrike">
                <a:solidFill>
                  <a:srgbClr val="475569"/>
                </a:solidFill>
                <a:latin typeface="Calibri"/>
                <a:ea typeface="Calibri"/>
                <a:cs typeface="Calibri"/>
                <a:sym typeface="Calibri"/>
              </a:rPr>
              <a:t>Align to 25hz timeline</a:t>
            </a:r>
            <a:endParaRPr b="0" i="0" sz="950" u="none" cap="none" strike="noStrike">
              <a:solidFill>
                <a:schemeClr val="dk1"/>
              </a:solidFill>
              <a:latin typeface="Calibri"/>
              <a:ea typeface="Calibri"/>
              <a:cs typeface="Calibri"/>
              <a:sym typeface="Calibri"/>
            </a:endParaRPr>
          </a:p>
        </p:txBody>
      </p:sp>
      <p:sp>
        <p:nvSpPr>
          <p:cNvPr id="70" name="Google Shape;70;p2"/>
          <p:cNvSpPr/>
          <p:nvPr/>
        </p:nvSpPr>
        <p:spPr>
          <a:xfrm>
            <a:off x="3639312" y="2247533"/>
            <a:ext cx="639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4A3B8"/>
              </a:buClr>
              <a:buSzPts val="1300"/>
              <a:buFont typeface="Calibri"/>
              <a:buNone/>
            </a:pPr>
            <a:r>
              <a:rPr b="0" i="0" lang="en-US" sz="1300" u="none" cap="none" strike="noStrike">
                <a:solidFill>
                  <a:srgbClr val="94A3B8"/>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71" name="Google Shape;71;p2"/>
          <p:cNvSpPr/>
          <p:nvPr/>
        </p:nvSpPr>
        <p:spPr>
          <a:xfrm>
            <a:off x="3703320" y="1689749"/>
            <a:ext cx="1572900" cy="1389900"/>
          </a:xfrm>
          <a:prstGeom prst="rect">
            <a:avLst/>
          </a:prstGeom>
          <a:solidFill>
            <a:srgbClr val="F0FDFA"/>
          </a:solidFill>
          <a:ln cap="flat" cmpd="sng" w="9525">
            <a:solidFill>
              <a:srgbClr val="99F6E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2"/>
          <p:cNvSpPr/>
          <p:nvPr/>
        </p:nvSpPr>
        <p:spPr>
          <a:xfrm>
            <a:off x="3794760" y="1772045"/>
            <a:ext cx="1389900" cy="1830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0D9488"/>
              </a:buClr>
              <a:buSzPts val="700"/>
              <a:buFont typeface="Calibri"/>
              <a:buNone/>
            </a:pPr>
            <a:r>
              <a:rPr b="1" i="0" lang="en-US" sz="700" u="none" cap="none" strike="noStrike">
                <a:solidFill>
                  <a:srgbClr val="0D9488"/>
                </a:solidFill>
                <a:latin typeface="Calibri"/>
                <a:ea typeface="Calibri"/>
                <a:cs typeface="Calibri"/>
                <a:sym typeface="Calibri"/>
              </a:rPr>
              <a:t>MEMBER 2 · SHIWEI JIANG</a:t>
            </a:r>
            <a:endParaRPr b="0" i="0" sz="700" u="none" cap="none" strike="noStrike">
              <a:solidFill>
                <a:schemeClr val="dk1"/>
              </a:solidFill>
              <a:latin typeface="Calibri"/>
              <a:ea typeface="Calibri"/>
              <a:cs typeface="Calibri"/>
              <a:sym typeface="Calibri"/>
            </a:endParaRPr>
          </a:p>
        </p:txBody>
      </p:sp>
      <p:sp>
        <p:nvSpPr>
          <p:cNvPr id="73" name="Google Shape;73;p2"/>
          <p:cNvSpPr/>
          <p:nvPr/>
        </p:nvSpPr>
        <p:spPr>
          <a:xfrm>
            <a:off x="3794760" y="1964069"/>
            <a:ext cx="1389900" cy="2925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1E293B"/>
              </a:buClr>
              <a:buSzPts val="1300"/>
              <a:buFont typeface="Georgia"/>
              <a:buNone/>
            </a:pPr>
            <a:r>
              <a:rPr b="1" i="0" lang="en-US" sz="1300" u="none" cap="none" strike="noStrike">
                <a:solidFill>
                  <a:srgbClr val="1E293B"/>
                </a:solidFill>
                <a:latin typeface="Georgia"/>
                <a:ea typeface="Georgia"/>
                <a:cs typeface="Georgia"/>
                <a:sym typeface="Georgia"/>
              </a:rPr>
              <a:t>Digital Twin</a:t>
            </a:r>
            <a:endParaRPr b="0" i="0" sz="1300" u="none" cap="none" strike="noStrike">
              <a:solidFill>
                <a:schemeClr val="dk1"/>
              </a:solidFill>
              <a:latin typeface="Calibri"/>
              <a:ea typeface="Calibri"/>
              <a:cs typeface="Calibri"/>
              <a:sym typeface="Calibri"/>
            </a:endParaRPr>
          </a:p>
        </p:txBody>
      </p:sp>
      <p:sp>
        <p:nvSpPr>
          <p:cNvPr id="74" name="Google Shape;74;p2"/>
          <p:cNvSpPr/>
          <p:nvPr/>
        </p:nvSpPr>
        <p:spPr>
          <a:xfrm>
            <a:off x="3794760" y="2284109"/>
            <a:ext cx="1389900" cy="75900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475569"/>
              </a:buClr>
              <a:buSzPts val="950"/>
              <a:buFont typeface="Calibri"/>
              <a:buNone/>
            </a:pPr>
            <a:r>
              <a:rPr b="0" i="0" lang="en-US" sz="950" u="none" cap="none" strike="noStrike">
                <a:solidFill>
                  <a:srgbClr val="475569"/>
                </a:solidFill>
                <a:latin typeface="Calibri"/>
                <a:ea typeface="Calibri"/>
                <a:cs typeface="Calibri"/>
                <a:sym typeface="Calibri"/>
              </a:rPr>
              <a:t>1-sec windows</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950"/>
              <a:buFont typeface="Calibri"/>
              <a:buNone/>
            </a:pPr>
            <a:r>
              <a:rPr b="0" i="0" lang="en-US" sz="950" u="none" cap="none" strike="noStrike">
                <a:solidFill>
                  <a:srgbClr val="475569"/>
                </a:solidFill>
                <a:latin typeface="Calibri"/>
                <a:ea typeface="Calibri"/>
                <a:cs typeface="Calibri"/>
                <a:sym typeface="Calibri"/>
              </a:rPr>
              <a:t>6 features</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950"/>
              <a:buFont typeface="Calibri"/>
              <a:buNone/>
            </a:pPr>
            <a:r>
              <a:rPr b="0" i="0" lang="en-US" sz="950" u="none" cap="none" strike="noStrike">
                <a:solidFill>
                  <a:srgbClr val="475569"/>
                </a:solidFill>
                <a:latin typeface="Calibri"/>
                <a:ea typeface="Calibri"/>
                <a:cs typeface="Calibri"/>
                <a:sym typeface="Calibri"/>
              </a:rPr>
              <a:t>RF regressor + residuals</a:t>
            </a:r>
            <a:endParaRPr b="0" i="0" sz="950" u="none" cap="none" strike="noStrike">
              <a:solidFill>
                <a:schemeClr val="dk1"/>
              </a:solidFill>
              <a:latin typeface="Calibri"/>
              <a:ea typeface="Calibri"/>
              <a:cs typeface="Calibri"/>
              <a:sym typeface="Calibri"/>
            </a:endParaRPr>
          </a:p>
        </p:txBody>
      </p:sp>
      <p:sp>
        <p:nvSpPr>
          <p:cNvPr id="75" name="Google Shape;75;p2"/>
          <p:cNvSpPr/>
          <p:nvPr/>
        </p:nvSpPr>
        <p:spPr>
          <a:xfrm>
            <a:off x="5285232" y="2247533"/>
            <a:ext cx="639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4A3B8"/>
              </a:buClr>
              <a:buSzPts val="1300"/>
              <a:buFont typeface="Calibri"/>
              <a:buNone/>
            </a:pPr>
            <a:r>
              <a:rPr b="0" i="0" lang="en-US" sz="1300" u="none" cap="none" strike="noStrike">
                <a:solidFill>
                  <a:srgbClr val="94A3B8"/>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76" name="Google Shape;76;p2"/>
          <p:cNvSpPr/>
          <p:nvPr/>
        </p:nvSpPr>
        <p:spPr>
          <a:xfrm>
            <a:off x="5349240" y="1689749"/>
            <a:ext cx="1572900" cy="1389900"/>
          </a:xfrm>
          <a:prstGeom prst="rect">
            <a:avLst/>
          </a:prstGeom>
          <a:solidFill>
            <a:srgbClr val="F5F3FF"/>
          </a:solidFill>
          <a:ln cap="flat" cmpd="sng" w="9525">
            <a:solidFill>
              <a:srgbClr val="DDD6F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2"/>
          <p:cNvSpPr/>
          <p:nvPr/>
        </p:nvSpPr>
        <p:spPr>
          <a:xfrm>
            <a:off x="5440680" y="1772045"/>
            <a:ext cx="1389900" cy="1830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7C3AED"/>
              </a:buClr>
              <a:buSzPts val="700"/>
              <a:buFont typeface="Calibri"/>
              <a:buNone/>
            </a:pPr>
            <a:r>
              <a:rPr b="1" i="0" lang="en-US" sz="700" u="none" cap="none" strike="noStrike">
                <a:solidFill>
                  <a:srgbClr val="7C3AED"/>
                </a:solidFill>
                <a:latin typeface="Calibri"/>
                <a:ea typeface="Calibri"/>
                <a:cs typeface="Calibri"/>
                <a:sym typeface="Calibri"/>
              </a:rPr>
              <a:t>MEMBER 3 · DHURAN M.</a:t>
            </a:r>
            <a:endParaRPr b="0" i="0" sz="700" u="none" cap="none" strike="noStrike">
              <a:solidFill>
                <a:schemeClr val="dk1"/>
              </a:solidFill>
              <a:latin typeface="Calibri"/>
              <a:ea typeface="Calibri"/>
              <a:cs typeface="Calibri"/>
              <a:sym typeface="Calibri"/>
            </a:endParaRPr>
          </a:p>
        </p:txBody>
      </p:sp>
      <p:sp>
        <p:nvSpPr>
          <p:cNvPr id="78" name="Google Shape;78;p2"/>
          <p:cNvSpPr/>
          <p:nvPr/>
        </p:nvSpPr>
        <p:spPr>
          <a:xfrm>
            <a:off x="5440680" y="1964069"/>
            <a:ext cx="1389900" cy="2925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1E293B"/>
              </a:buClr>
              <a:buSzPts val="1300"/>
              <a:buFont typeface="Georgia"/>
              <a:buNone/>
            </a:pPr>
            <a:r>
              <a:rPr b="1" i="0" lang="en-US" sz="1300" u="none" cap="none" strike="noStrike">
                <a:solidFill>
                  <a:srgbClr val="1E293B"/>
                </a:solidFill>
                <a:latin typeface="Georgia"/>
                <a:ea typeface="Georgia"/>
                <a:cs typeface="Georgia"/>
                <a:sym typeface="Georgia"/>
              </a:rPr>
              <a:t>Classification</a:t>
            </a:r>
            <a:endParaRPr b="0" i="0" sz="1300" u="none" cap="none" strike="noStrike">
              <a:solidFill>
                <a:schemeClr val="dk1"/>
              </a:solidFill>
              <a:latin typeface="Calibri"/>
              <a:ea typeface="Calibri"/>
              <a:cs typeface="Calibri"/>
              <a:sym typeface="Calibri"/>
            </a:endParaRPr>
          </a:p>
        </p:txBody>
      </p:sp>
      <p:sp>
        <p:nvSpPr>
          <p:cNvPr id="79" name="Google Shape;79;p2"/>
          <p:cNvSpPr/>
          <p:nvPr/>
        </p:nvSpPr>
        <p:spPr>
          <a:xfrm>
            <a:off x="5440680" y="2284109"/>
            <a:ext cx="1389900" cy="75900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475569"/>
              </a:buClr>
              <a:buSzPts val="950"/>
              <a:buFont typeface="Calibri"/>
              <a:buNone/>
            </a:pPr>
            <a:r>
              <a:rPr b="0" i="0" lang="en-US" sz="950" u="none" cap="none" strike="noStrike">
                <a:solidFill>
                  <a:srgbClr val="475569"/>
                </a:solidFill>
                <a:latin typeface="Calibri"/>
                <a:ea typeface="Calibri"/>
                <a:cs typeface="Calibri"/>
                <a:sym typeface="Calibri"/>
              </a:rPr>
              <a:t>Condition classifier</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950"/>
              <a:buFont typeface="Calibri"/>
              <a:buNone/>
            </a:pPr>
            <a:r>
              <a:rPr b="0" i="0" lang="en-US" sz="950" u="none" cap="none" strike="noStrike">
                <a:solidFill>
                  <a:srgbClr val="475569"/>
                </a:solidFill>
                <a:latin typeface="Calibri"/>
                <a:ea typeface="Calibri"/>
                <a:cs typeface="Calibri"/>
                <a:sym typeface="Calibri"/>
              </a:rPr>
              <a:t>Decision thresholds</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950"/>
              <a:buFont typeface="Calibri"/>
              <a:buNone/>
            </a:pPr>
            <a:r>
              <a:rPr b="0" i="0" lang="en-US" sz="950" u="none" cap="none" strike="noStrike">
                <a:solidFill>
                  <a:srgbClr val="475569"/>
                </a:solidFill>
                <a:latin typeface="Calibri"/>
                <a:ea typeface="Calibri"/>
                <a:cs typeface="Calibri"/>
                <a:sym typeface="Calibri"/>
              </a:rPr>
              <a:t>continue/adjust/stop</a:t>
            </a:r>
            <a:endParaRPr b="0" i="0" sz="950" u="none" cap="none" strike="noStrike">
              <a:solidFill>
                <a:schemeClr val="dk1"/>
              </a:solidFill>
              <a:latin typeface="Calibri"/>
              <a:ea typeface="Calibri"/>
              <a:cs typeface="Calibri"/>
              <a:sym typeface="Calibri"/>
            </a:endParaRPr>
          </a:p>
        </p:txBody>
      </p:sp>
      <p:sp>
        <p:nvSpPr>
          <p:cNvPr id="80" name="Google Shape;80;p2"/>
          <p:cNvSpPr/>
          <p:nvPr/>
        </p:nvSpPr>
        <p:spPr>
          <a:xfrm>
            <a:off x="6931152" y="2247533"/>
            <a:ext cx="639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4A3B8"/>
              </a:buClr>
              <a:buSzPts val="1300"/>
              <a:buFont typeface="Calibri"/>
              <a:buNone/>
            </a:pPr>
            <a:r>
              <a:rPr b="0" i="0" lang="en-US" sz="1300" u="none" cap="none" strike="noStrike">
                <a:solidFill>
                  <a:srgbClr val="94A3B8"/>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81" name="Google Shape;81;p2"/>
          <p:cNvSpPr/>
          <p:nvPr/>
        </p:nvSpPr>
        <p:spPr>
          <a:xfrm>
            <a:off x="6995160" y="1689749"/>
            <a:ext cx="1572900" cy="1389900"/>
          </a:xfrm>
          <a:prstGeom prst="rect">
            <a:avLst/>
          </a:prstGeom>
          <a:solidFill>
            <a:srgbClr val="FFF7ED"/>
          </a:solidFill>
          <a:ln cap="flat" cmpd="sng" w="9525">
            <a:solidFill>
              <a:srgbClr val="FED7A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
          <p:cNvSpPr/>
          <p:nvPr/>
        </p:nvSpPr>
        <p:spPr>
          <a:xfrm>
            <a:off x="7086600" y="1772045"/>
            <a:ext cx="1389900" cy="1830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EA580C"/>
              </a:buClr>
              <a:buSzPts val="700"/>
              <a:buFont typeface="Calibri"/>
              <a:buNone/>
            </a:pPr>
            <a:r>
              <a:rPr b="1" i="0" lang="en-US" sz="700" u="none" cap="none" strike="noStrike">
                <a:solidFill>
                  <a:srgbClr val="EA580C"/>
                </a:solidFill>
                <a:latin typeface="Calibri"/>
                <a:ea typeface="Calibri"/>
                <a:cs typeface="Calibri"/>
                <a:sym typeface="Calibri"/>
              </a:rPr>
              <a:t>MEMBER 4 · SAERA PARK</a:t>
            </a:r>
            <a:endParaRPr b="0" i="0" sz="700" u="none" cap="none" strike="noStrike">
              <a:solidFill>
                <a:schemeClr val="dk1"/>
              </a:solidFill>
              <a:latin typeface="Calibri"/>
              <a:ea typeface="Calibri"/>
              <a:cs typeface="Calibri"/>
              <a:sym typeface="Calibri"/>
            </a:endParaRPr>
          </a:p>
        </p:txBody>
      </p:sp>
      <p:sp>
        <p:nvSpPr>
          <p:cNvPr id="83" name="Google Shape;83;p2"/>
          <p:cNvSpPr/>
          <p:nvPr/>
        </p:nvSpPr>
        <p:spPr>
          <a:xfrm>
            <a:off x="7086600" y="1964069"/>
            <a:ext cx="1389900" cy="2925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1E293B"/>
              </a:buClr>
              <a:buSzPts val="1300"/>
              <a:buFont typeface="Georgia"/>
              <a:buNone/>
            </a:pPr>
            <a:r>
              <a:rPr b="1" i="0" lang="en-US" sz="1300" u="none" cap="none" strike="noStrike">
                <a:solidFill>
                  <a:srgbClr val="1E293B"/>
                </a:solidFill>
                <a:latin typeface="Georgia"/>
                <a:ea typeface="Georgia"/>
                <a:cs typeface="Georgia"/>
                <a:sym typeface="Georgia"/>
              </a:rPr>
              <a:t>Evaluation</a:t>
            </a:r>
            <a:endParaRPr b="0" i="0" sz="1300" u="none" cap="none" strike="noStrike">
              <a:solidFill>
                <a:schemeClr val="dk1"/>
              </a:solidFill>
              <a:latin typeface="Calibri"/>
              <a:ea typeface="Calibri"/>
              <a:cs typeface="Calibri"/>
              <a:sym typeface="Calibri"/>
            </a:endParaRPr>
          </a:p>
        </p:txBody>
      </p:sp>
      <p:sp>
        <p:nvSpPr>
          <p:cNvPr id="84" name="Google Shape;84;p2"/>
          <p:cNvSpPr/>
          <p:nvPr/>
        </p:nvSpPr>
        <p:spPr>
          <a:xfrm>
            <a:off x="7086600" y="2284109"/>
            <a:ext cx="1389900" cy="75900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475569"/>
              </a:buClr>
              <a:buSzPts val="950"/>
              <a:buFont typeface="Calibri"/>
              <a:buNone/>
            </a:pPr>
            <a:r>
              <a:rPr b="0" i="0" lang="en-US" sz="950" u="none" cap="none" strike="noStrike">
                <a:solidFill>
                  <a:srgbClr val="475569"/>
                </a:solidFill>
                <a:latin typeface="Calibri"/>
                <a:ea typeface="Calibri"/>
                <a:cs typeface="Calibri"/>
                <a:sym typeface="Calibri"/>
              </a:rPr>
              <a:t>Metrics</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950"/>
              <a:buFont typeface="Calibri"/>
              <a:buNone/>
            </a:pPr>
            <a:r>
              <a:rPr b="0" i="0" lang="en-US" sz="950" u="none" cap="none" strike="noStrike">
                <a:solidFill>
                  <a:srgbClr val="475569"/>
                </a:solidFill>
                <a:latin typeface="Calibri"/>
                <a:ea typeface="Calibri"/>
                <a:cs typeface="Calibri"/>
                <a:sym typeface="Calibri"/>
              </a:rPr>
              <a:t>Findings</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950"/>
              <a:buFont typeface="Calibri"/>
              <a:buNone/>
            </a:pPr>
            <a:r>
              <a:rPr b="0" i="0" lang="en-US" sz="950" u="none" cap="none" strike="noStrike">
                <a:solidFill>
                  <a:srgbClr val="475569"/>
                </a:solidFill>
                <a:latin typeface="Calibri"/>
                <a:ea typeface="Calibri"/>
                <a:cs typeface="Calibri"/>
                <a:sym typeface="Calibri"/>
              </a:rPr>
              <a:t>Limitations</a:t>
            </a:r>
            <a:endParaRPr b="0" i="0" sz="950" u="none" cap="none" strike="noStrike">
              <a:solidFill>
                <a:schemeClr val="dk1"/>
              </a:solidFill>
              <a:latin typeface="Calibri"/>
              <a:ea typeface="Calibri"/>
              <a:cs typeface="Calibri"/>
              <a:sym typeface="Calibri"/>
            </a:endParaRPr>
          </a:p>
        </p:txBody>
      </p:sp>
      <p:sp>
        <p:nvSpPr>
          <p:cNvPr id="85" name="Google Shape;85;p2"/>
          <p:cNvSpPr/>
          <p:nvPr/>
        </p:nvSpPr>
        <p:spPr>
          <a:xfrm>
            <a:off x="411455" y="3269890"/>
            <a:ext cx="1965900" cy="7131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2"/>
          <p:cNvSpPr/>
          <p:nvPr/>
        </p:nvSpPr>
        <p:spPr>
          <a:xfrm>
            <a:off x="484607" y="3324754"/>
            <a:ext cx="1819800" cy="370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2563EB"/>
              </a:buClr>
              <a:buSzPts val="1600"/>
              <a:buFont typeface="Georgia"/>
              <a:buNone/>
            </a:pPr>
            <a:r>
              <a:rPr b="1" i="0" lang="en-US" sz="1600" u="none" cap="none" strike="noStrike">
                <a:solidFill>
                  <a:srgbClr val="2563EB"/>
                </a:solidFill>
                <a:latin typeface="Georgia"/>
                <a:ea typeface="Georgia"/>
                <a:cs typeface="Georgia"/>
                <a:sym typeface="Georgia"/>
              </a:rPr>
              <a:t>108/108</a:t>
            </a:r>
            <a:endParaRPr b="0" i="0" sz="1600" u="none" cap="none" strike="noStrike">
              <a:solidFill>
                <a:schemeClr val="dk1"/>
              </a:solidFill>
              <a:latin typeface="Calibri"/>
              <a:ea typeface="Calibri"/>
              <a:cs typeface="Calibri"/>
              <a:sym typeface="Calibri"/>
            </a:endParaRPr>
          </a:p>
        </p:txBody>
      </p:sp>
      <p:sp>
        <p:nvSpPr>
          <p:cNvPr id="87" name="Google Shape;87;p2"/>
          <p:cNvSpPr/>
          <p:nvPr/>
        </p:nvSpPr>
        <p:spPr>
          <a:xfrm>
            <a:off x="484607" y="3697829"/>
            <a:ext cx="1819800" cy="2568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94A3B8"/>
              </a:buClr>
              <a:buSzPts val="800"/>
              <a:buFont typeface="Calibri"/>
              <a:buNone/>
            </a:pPr>
            <a:r>
              <a:rPr b="0" i="0" lang="en-US" sz="800" u="none" cap="none" strike="noStrike">
                <a:solidFill>
                  <a:srgbClr val="94A3B8"/>
                </a:solidFill>
                <a:latin typeface="Calibri"/>
                <a:ea typeface="Calibri"/>
                <a:cs typeface="Calibri"/>
                <a:sym typeface="Calibri"/>
              </a:rPr>
              <a:t>Runs aligned</a:t>
            </a:r>
            <a:endParaRPr b="0" i="0" sz="800" u="none" cap="none" strike="noStrike">
              <a:solidFill>
                <a:schemeClr val="dk1"/>
              </a:solidFill>
              <a:latin typeface="Calibri"/>
              <a:ea typeface="Calibri"/>
              <a:cs typeface="Calibri"/>
              <a:sym typeface="Calibri"/>
            </a:endParaRPr>
          </a:p>
        </p:txBody>
      </p:sp>
      <p:sp>
        <p:nvSpPr>
          <p:cNvPr id="88" name="Google Shape;88;p2"/>
          <p:cNvSpPr/>
          <p:nvPr/>
        </p:nvSpPr>
        <p:spPr>
          <a:xfrm>
            <a:off x="2427707" y="3269890"/>
            <a:ext cx="1965900" cy="7131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2"/>
          <p:cNvSpPr/>
          <p:nvPr/>
        </p:nvSpPr>
        <p:spPr>
          <a:xfrm>
            <a:off x="2500859" y="3324754"/>
            <a:ext cx="1819800" cy="370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2563EB"/>
              </a:buClr>
              <a:buSzPts val="1600"/>
              <a:buFont typeface="Georgia"/>
              <a:buNone/>
            </a:pPr>
            <a:r>
              <a:rPr b="1" i="0" lang="en-US" sz="1600" u="none" cap="none" strike="noStrike">
                <a:solidFill>
                  <a:srgbClr val="2563EB"/>
                </a:solidFill>
                <a:latin typeface="Georgia"/>
                <a:ea typeface="Georgia"/>
                <a:cs typeface="Georgia"/>
                <a:sym typeface="Georgia"/>
              </a:rPr>
              <a:t>106,986</a:t>
            </a:r>
            <a:endParaRPr b="0" i="0" sz="1600" u="none" cap="none" strike="noStrike">
              <a:solidFill>
                <a:schemeClr val="dk1"/>
              </a:solidFill>
              <a:latin typeface="Calibri"/>
              <a:ea typeface="Calibri"/>
              <a:cs typeface="Calibri"/>
              <a:sym typeface="Calibri"/>
            </a:endParaRPr>
          </a:p>
        </p:txBody>
      </p:sp>
      <p:sp>
        <p:nvSpPr>
          <p:cNvPr id="90" name="Google Shape;90;p2"/>
          <p:cNvSpPr/>
          <p:nvPr/>
        </p:nvSpPr>
        <p:spPr>
          <a:xfrm>
            <a:off x="2500859" y="3697829"/>
            <a:ext cx="1819800" cy="2568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94A3B8"/>
              </a:buClr>
              <a:buSzPts val="800"/>
              <a:buFont typeface="Calibri"/>
              <a:buNone/>
            </a:pPr>
            <a:r>
              <a:rPr b="0" i="0" lang="en-US" sz="800" u="none" cap="none" strike="noStrike">
                <a:solidFill>
                  <a:srgbClr val="94A3B8"/>
                </a:solidFill>
                <a:latin typeface="Calibri"/>
                <a:ea typeface="Calibri"/>
                <a:cs typeface="Calibri"/>
                <a:sym typeface="Calibri"/>
              </a:rPr>
              <a:t>Sensor rows</a:t>
            </a:r>
            <a:endParaRPr b="0" i="0" sz="800" u="none" cap="none" strike="noStrike">
              <a:solidFill>
                <a:schemeClr val="dk1"/>
              </a:solidFill>
              <a:latin typeface="Calibri"/>
              <a:ea typeface="Calibri"/>
              <a:cs typeface="Calibri"/>
              <a:sym typeface="Calibri"/>
            </a:endParaRPr>
          </a:p>
        </p:txBody>
      </p:sp>
      <p:sp>
        <p:nvSpPr>
          <p:cNvPr id="91" name="Google Shape;91;p2"/>
          <p:cNvSpPr/>
          <p:nvPr/>
        </p:nvSpPr>
        <p:spPr>
          <a:xfrm>
            <a:off x="4443959" y="3269890"/>
            <a:ext cx="1965900" cy="7131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2"/>
          <p:cNvSpPr/>
          <p:nvPr/>
        </p:nvSpPr>
        <p:spPr>
          <a:xfrm>
            <a:off x="4517111" y="3324754"/>
            <a:ext cx="1819800" cy="370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2563EB"/>
              </a:buClr>
              <a:buSzPts val="1600"/>
              <a:buFont typeface="Georgia"/>
              <a:buNone/>
            </a:pPr>
            <a:r>
              <a:rPr b="1" i="0" lang="en-US" sz="1600" u="none" cap="none" strike="noStrike">
                <a:solidFill>
                  <a:srgbClr val="2563EB"/>
                </a:solidFill>
                <a:latin typeface="Georgia"/>
                <a:ea typeface="Georgia"/>
                <a:cs typeface="Georgia"/>
                <a:sym typeface="Georgia"/>
              </a:rPr>
              <a:t>4,239</a:t>
            </a:r>
            <a:endParaRPr b="0" i="0" sz="1600" u="none" cap="none" strike="noStrike">
              <a:solidFill>
                <a:schemeClr val="dk1"/>
              </a:solidFill>
              <a:latin typeface="Calibri"/>
              <a:ea typeface="Calibri"/>
              <a:cs typeface="Calibri"/>
              <a:sym typeface="Calibri"/>
            </a:endParaRPr>
          </a:p>
        </p:txBody>
      </p:sp>
      <p:sp>
        <p:nvSpPr>
          <p:cNvPr id="93" name="Google Shape;93;p2"/>
          <p:cNvSpPr/>
          <p:nvPr/>
        </p:nvSpPr>
        <p:spPr>
          <a:xfrm>
            <a:off x="4517111" y="3697829"/>
            <a:ext cx="1819800" cy="2568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94A3B8"/>
              </a:buClr>
              <a:buSzPts val="800"/>
              <a:buFont typeface="Calibri"/>
              <a:buNone/>
            </a:pPr>
            <a:r>
              <a:rPr b="0" i="0" lang="en-US" sz="800" u="none" cap="none" strike="noStrike">
                <a:solidFill>
                  <a:srgbClr val="94A3B8"/>
                </a:solidFill>
                <a:latin typeface="Calibri"/>
                <a:ea typeface="Calibri"/>
                <a:cs typeface="Calibri"/>
                <a:sym typeface="Calibri"/>
              </a:rPr>
              <a:t>Windows evaluated</a:t>
            </a:r>
            <a:endParaRPr b="0" i="0" sz="800" u="none" cap="none" strike="noStrike">
              <a:solidFill>
                <a:schemeClr val="dk1"/>
              </a:solidFill>
              <a:latin typeface="Calibri"/>
              <a:ea typeface="Calibri"/>
              <a:cs typeface="Calibri"/>
              <a:sym typeface="Calibri"/>
            </a:endParaRPr>
          </a:p>
        </p:txBody>
      </p:sp>
      <p:sp>
        <p:nvSpPr>
          <p:cNvPr id="94" name="Google Shape;94;p2"/>
          <p:cNvSpPr/>
          <p:nvPr/>
        </p:nvSpPr>
        <p:spPr>
          <a:xfrm>
            <a:off x="6460211" y="3269890"/>
            <a:ext cx="1965900" cy="7131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2"/>
          <p:cNvSpPr/>
          <p:nvPr/>
        </p:nvSpPr>
        <p:spPr>
          <a:xfrm>
            <a:off x="6533363" y="3324754"/>
            <a:ext cx="1819800" cy="370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2563EB"/>
              </a:buClr>
              <a:buSzPts val="1600"/>
              <a:buFont typeface="Georgia"/>
              <a:buNone/>
            </a:pPr>
            <a:r>
              <a:rPr b="1" i="0" lang="en-US" sz="1600" u="none" cap="none" strike="noStrike">
                <a:solidFill>
                  <a:srgbClr val="2563EB"/>
                </a:solidFill>
                <a:latin typeface="Georgia"/>
                <a:ea typeface="Georgia"/>
                <a:cs typeface="Georgia"/>
                <a:sym typeface="Georgia"/>
              </a:rPr>
              <a:t>Alum. + Steel</a:t>
            </a:r>
            <a:endParaRPr b="0" i="0" sz="1600" u="none" cap="none" strike="noStrike">
              <a:solidFill>
                <a:schemeClr val="dk1"/>
              </a:solidFill>
              <a:latin typeface="Calibri"/>
              <a:ea typeface="Calibri"/>
              <a:cs typeface="Calibri"/>
              <a:sym typeface="Calibri"/>
            </a:endParaRPr>
          </a:p>
        </p:txBody>
      </p:sp>
      <p:sp>
        <p:nvSpPr>
          <p:cNvPr id="96" name="Google Shape;96;p2"/>
          <p:cNvSpPr/>
          <p:nvPr/>
        </p:nvSpPr>
        <p:spPr>
          <a:xfrm>
            <a:off x="6533363" y="3697829"/>
            <a:ext cx="1819800" cy="2568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94A3B8"/>
              </a:buClr>
              <a:buSzPts val="800"/>
              <a:buFont typeface="Calibri"/>
              <a:buNone/>
            </a:pPr>
            <a:r>
              <a:rPr b="0" i="0" lang="en-US" sz="800" u="none" cap="none" strike="noStrike">
                <a:solidFill>
                  <a:srgbClr val="94A3B8"/>
                </a:solidFill>
                <a:latin typeface="Calibri"/>
                <a:ea typeface="Calibri"/>
                <a:cs typeface="Calibri"/>
                <a:sym typeface="Calibri"/>
              </a:rPr>
              <a:t>Two materials</a:t>
            </a:r>
            <a:endParaRPr b="0" i="0" sz="800" u="none" cap="none" strike="noStrike">
              <a:solidFill>
                <a:schemeClr val="dk1"/>
              </a:solidFill>
              <a:latin typeface="Calibri"/>
              <a:ea typeface="Calibri"/>
              <a:cs typeface="Calibri"/>
              <a:sym typeface="Calibri"/>
            </a:endParaRPr>
          </a:p>
        </p:txBody>
      </p:sp>
      <p:sp>
        <p:nvSpPr>
          <p:cNvPr id="97" name="Google Shape;97;p2"/>
          <p:cNvSpPr/>
          <p:nvPr/>
        </p:nvSpPr>
        <p:spPr>
          <a:xfrm>
            <a:off x="411455" y="4092850"/>
            <a:ext cx="83211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75569"/>
              </a:buClr>
              <a:buSzPts val="1000"/>
              <a:buFont typeface="Calibri"/>
              <a:buNone/>
            </a:pPr>
            <a:r>
              <a:rPr b="0" i="1" lang="en-US" sz="1000" u="none" cap="none" strike="noStrike">
                <a:solidFill>
                  <a:srgbClr val="475569"/>
                </a:solidFill>
                <a:latin typeface="Calibri"/>
                <a:ea typeface="Calibri"/>
                <a:cs typeface="Calibri"/>
                <a:sym typeface="Calibri"/>
              </a:rPr>
              <a:t>The pipeline closes the loop: from raw sensors → aligned data → expected vibration → classification → control action.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 name="Shape 102"/>
        <p:cNvGrpSpPr/>
        <p:nvPr/>
      </p:nvGrpSpPr>
      <p:grpSpPr>
        <a:xfrm>
          <a:off x="0" y="0"/>
          <a:ext cx="0" cy="0"/>
          <a:chOff x="0" y="0"/>
          <a:chExt cx="0" cy="0"/>
        </a:xfrm>
      </p:grpSpPr>
      <p:sp>
        <p:nvSpPr>
          <p:cNvPr id="103" name="Google Shape;103;p3"/>
          <p:cNvSpPr/>
          <p:nvPr/>
        </p:nvSpPr>
        <p:spPr>
          <a:xfrm>
            <a:off x="0" y="0"/>
            <a:ext cx="54864" cy="5143500"/>
          </a:xfrm>
          <a:prstGeom prst="rect">
            <a:avLst/>
          </a:prstGeom>
          <a:solidFill>
            <a:srgbClr val="2563EB"/>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3"/>
          <p:cNvSpPr/>
          <p:nvPr/>
        </p:nvSpPr>
        <p:spPr>
          <a:xfrm>
            <a:off x="411480" y="256032"/>
            <a:ext cx="73152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800"/>
              <a:buFont typeface="Calibri"/>
              <a:buNone/>
            </a:pPr>
            <a:r>
              <a:rPr b="1" i="0" lang="en-US" sz="800" u="none" cap="none" strike="noStrike">
                <a:solidFill>
                  <a:srgbClr val="2563EB"/>
                </a:solidFill>
                <a:latin typeface="Calibri"/>
                <a:ea typeface="Calibri"/>
                <a:cs typeface="Calibri"/>
                <a:sym typeface="Calibri"/>
              </a:rPr>
              <a:t>MEMBER 1  ·  ABBY ALBRECHT</a:t>
            </a:r>
            <a:endParaRPr b="0" i="0" sz="800" u="none" cap="none" strike="noStrike">
              <a:solidFill>
                <a:schemeClr val="dk1"/>
              </a:solidFill>
              <a:latin typeface="Calibri"/>
              <a:ea typeface="Calibri"/>
              <a:cs typeface="Calibri"/>
              <a:sym typeface="Calibri"/>
            </a:endParaRPr>
          </a:p>
        </p:txBody>
      </p:sp>
      <p:sp>
        <p:nvSpPr>
          <p:cNvPr id="105" name="Google Shape;105;p3"/>
          <p:cNvSpPr/>
          <p:nvPr/>
        </p:nvSpPr>
        <p:spPr>
          <a:xfrm>
            <a:off x="411480" y="475488"/>
            <a:ext cx="7772400" cy="6583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1E293B"/>
              </a:buClr>
              <a:buSzPts val="2400"/>
              <a:buFont typeface="Georgia"/>
              <a:buNone/>
            </a:pPr>
            <a:r>
              <a:rPr b="1" i="0" lang="en-US" sz="2400" u="none" cap="none" strike="noStrike">
                <a:solidFill>
                  <a:srgbClr val="1E293B"/>
                </a:solidFill>
                <a:latin typeface="Georgia"/>
                <a:ea typeface="Georgia"/>
                <a:cs typeface="Georgia"/>
                <a:sym typeface="Georgia"/>
              </a:rPr>
              <a:t>Data Discovery &amp; Signal Alignment</a:t>
            </a:r>
            <a:endParaRPr b="0" i="0" sz="2400" u="none" cap="none" strike="noStrike">
              <a:solidFill>
                <a:schemeClr val="dk1"/>
              </a:solidFill>
              <a:latin typeface="Calibri"/>
              <a:ea typeface="Calibri"/>
              <a:cs typeface="Calibri"/>
              <a:sym typeface="Calibri"/>
            </a:endParaRPr>
          </a:p>
        </p:txBody>
      </p:sp>
      <p:sp>
        <p:nvSpPr>
          <p:cNvPr id="106" name="Google Shape;106;p3"/>
          <p:cNvSpPr/>
          <p:nvPr/>
        </p:nvSpPr>
        <p:spPr>
          <a:xfrm>
            <a:off x="411480" y="1188720"/>
            <a:ext cx="8321040" cy="9144"/>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3"/>
          <p:cNvSpPr/>
          <p:nvPr/>
        </p:nvSpPr>
        <p:spPr>
          <a:xfrm>
            <a:off x="7863840" y="256032"/>
            <a:ext cx="86868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900"/>
              <a:buFont typeface="Calibri"/>
              <a:buNone/>
            </a:pPr>
            <a:r>
              <a:rPr b="0" i="0" lang="en-US" sz="900" u="none" cap="none" strike="noStrike">
                <a:solidFill>
                  <a:srgbClr val="94A3B8"/>
                </a:solidFill>
                <a:latin typeface="Calibri"/>
                <a:ea typeface="Calibri"/>
                <a:cs typeface="Calibri"/>
                <a:sym typeface="Calibri"/>
              </a:rPr>
              <a:t>3 / 8</a:t>
            </a:r>
            <a:endParaRPr b="0" i="0" sz="900" u="none" cap="none" strike="noStrike">
              <a:solidFill>
                <a:schemeClr val="dk1"/>
              </a:solidFill>
              <a:latin typeface="Calibri"/>
              <a:ea typeface="Calibri"/>
              <a:cs typeface="Calibri"/>
              <a:sym typeface="Calibri"/>
            </a:endParaRPr>
          </a:p>
        </p:txBody>
      </p:sp>
      <p:sp>
        <p:nvSpPr>
          <p:cNvPr id="108" name="Google Shape;108;p3"/>
          <p:cNvSpPr/>
          <p:nvPr/>
        </p:nvSpPr>
        <p:spPr>
          <a:xfrm>
            <a:off x="470900" y="1710096"/>
            <a:ext cx="54900" cy="54900"/>
          </a:xfrm>
          <a:prstGeom prst="ellipse">
            <a:avLst/>
          </a:prstGeom>
          <a:solidFill>
            <a:srgbClr val="2563EB"/>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109" name="Google Shape;109;p3"/>
          <p:cNvSpPr/>
          <p:nvPr/>
        </p:nvSpPr>
        <p:spPr>
          <a:xfrm>
            <a:off x="608060" y="1582080"/>
            <a:ext cx="3794700" cy="347400"/>
          </a:xfrm>
          <a:prstGeom prst="rect">
            <a:avLst/>
          </a:prstGeom>
          <a:noFill/>
          <a:ln>
            <a:noFill/>
          </a:ln>
        </p:spPr>
        <p:txBody>
          <a:bodyPr anchorCtr="0" anchor="ctr" bIns="0" lIns="0" spcFirstLastPara="1" rIns="0" wrap="square" tIns="0">
            <a:normAutofit/>
          </a:bodyPr>
          <a:lstStyle/>
          <a:p>
            <a:pPr indent="0" lvl="0" marL="0" marR="0" rtl="0" algn="l">
              <a:lnSpc>
                <a:spcPct val="115000"/>
              </a:lnSpc>
              <a:spcBef>
                <a:spcPts val="0"/>
              </a:spcBef>
              <a:spcAft>
                <a:spcPts val="0"/>
              </a:spcAft>
              <a:buClr>
                <a:srgbClr val="475569"/>
              </a:buClr>
              <a:buSzPts val="1100"/>
              <a:buFont typeface="Calibri"/>
              <a:buNone/>
            </a:pPr>
            <a:r>
              <a:rPr b="0" i="0" lang="en-US" sz="1300" u="none" cap="none" strike="noStrike">
                <a:solidFill>
                  <a:srgbClr val="475569"/>
                </a:solidFill>
                <a:latin typeface="Calibri"/>
                <a:ea typeface="Calibri"/>
                <a:cs typeface="Calibri"/>
                <a:sym typeface="Calibri"/>
              </a:rPr>
              <a:t>Discovered all 108 runs organized as material / condition / run_id folder structure</a:t>
            </a:r>
            <a:endParaRPr b="0" i="0" sz="1300" u="none" cap="none" strike="noStrike">
              <a:solidFill>
                <a:schemeClr val="dk1"/>
              </a:solidFill>
              <a:latin typeface="Calibri"/>
              <a:ea typeface="Calibri"/>
              <a:cs typeface="Calibri"/>
              <a:sym typeface="Calibri"/>
            </a:endParaRPr>
          </a:p>
        </p:txBody>
      </p:sp>
      <p:sp>
        <p:nvSpPr>
          <p:cNvPr id="110" name="Google Shape;110;p3"/>
          <p:cNvSpPr/>
          <p:nvPr/>
        </p:nvSpPr>
        <p:spPr>
          <a:xfrm>
            <a:off x="470900" y="2201131"/>
            <a:ext cx="54900" cy="54900"/>
          </a:xfrm>
          <a:prstGeom prst="ellipse">
            <a:avLst/>
          </a:prstGeom>
          <a:solidFill>
            <a:srgbClr val="2563EB"/>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111" name="Google Shape;111;p3"/>
          <p:cNvSpPr/>
          <p:nvPr/>
        </p:nvSpPr>
        <p:spPr>
          <a:xfrm>
            <a:off x="608060" y="2073115"/>
            <a:ext cx="3794700" cy="347400"/>
          </a:xfrm>
          <a:prstGeom prst="rect">
            <a:avLst/>
          </a:prstGeom>
          <a:noFill/>
          <a:ln>
            <a:noFill/>
          </a:ln>
        </p:spPr>
        <p:txBody>
          <a:bodyPr anchorCtr="0" anchor="ctr" bIns="0" lIns="0" spcFirstLastPara="1" rIns="0" wrap="square" tIns="0">
            <a:normAutofit/>
          </a:bodyPr>
          <a:lstStyle/>
          <a:p>
            <a:pPr indent="0" lvl="0" marL="0" marR="0" rtl="0" algn="l">
              <a:lnSpc>
                <a:spcPct val="115000"/>
              </a:lnSpc>
              <a:spcBef>
                <a:spcPts val="0"/>
              </a:spcBef>
              <a:spcAft>
                <a:spcPts val="0"/>
              </a:spcAft>
              <a:buClr>
                <a:srgbClr val="475569"/>
              </a:buClr>
              <a:buSzPts val="1100"/>
              <a:buFont typeface="Calibri"/>
              <a:buNone/>
            </a:pPr>
            <a:r>
              <a:rPr b="0" i="0" lang="en-US" sz="1300" u="none" cap="none" strike="noStrike">
                <a:solidFill>
                  <a:srgbClr val="475569"/>
                </a:solidFill>
                <a:latin typeface="Calibri"/>
                <a:ea typeface="Calibri"/>
                <a:cs typeface="Calibri"/>
                <a:sym typeface="Calibri"/>
              </a:rPr>
              <a:t>Parsed folder names to extract: material type, thickness, load weight, placement, and speed</a:t>
            </a:r>
            <a:endParaRPr b="0" i="0" sz="1300" u="none" cap="none" strike="noStrike">
              <a:solidFill>
                <a:schemeClr val="dk1"/>
              </a:solidFill>
              <a:latin typeface="Calibri"/>
              <a:ea typeface="Calibri"/>
              <a:cs typeface="Calibri"/>
              <a:sym typeface="Calibri"/>
            </a:endParaRPr>
          </a:p>
        </p:txBody>
      </p:sp>
      <p:sp>
        <p:nvSpPr>
          <p:cNvPr id="112" name="Google Shape;112;p3"/>
          <p:cNvSpPr/>
          <p:nvPr/>
        </p:nvSpPr>
        <p:spPr>
          <a:xfrm>
            <a:off x="470900" y="2686515"/>
            <a:ext cx="54900" cy="54900"/>
          </a:xfrm>
          <a:prstGeom prst="ellipse">
            <a:avLst/>
          </a:prstGeom>
          <a:solidFill>
            <a:srgbClr val="2563EB"/>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113" name="Google Shape;113;p3"/>
          <p:cNvSpPr/>
          <p:nvPr/>
        </p:nvSpPr>
        <p:spPr>
          <a:xfrm>
            <a:off x="608060" y="2558499"/>
            <a:ext cx="3794700" cy="347400"/>
          </a:xfrm>
          <a:prstGeom prst="rect">
            <a:avLst/>
          </a:prstGeom>
          <a:noFill/>
          <a:ln>
            <a:noFill/>
          </a:ln>
        </p:spPr>
        <p:txBody>
          <a:bodyPr anchorCtr="0" anchor="ctr" bIns="0" lIns="0" spcFirstLastPara="1" rIns="0" wrap="square" tIns="0">
            <a:normAutofit/>
          </a:bodyPr>
          <a:lstStyle/>
          <a:p>
            <a:pPr indent="0" lvl="0" marL="0" marR="0" rtl="0" algn="l">
              <a:lnSpc>
                <a:spcPct val="115000"/>
              </a:lnSpc>
              <a:spcBef>
                <a:spcPts val="0"/>
              </a:spcBef>
              <a:spcAft>
                <a:spcPts val="0"/>
              </a:spcAft>
              <a:buClr>
                <a:srgbClr val="475569"/>
              </a:buClr>
              <a:buSzPts val="1100"/>
              <a:buFont typeface="Calibri"/>
              <a:buNone/>
            </a:pPr>
            <a:r>
              <a:rPr b="0" i="0" lang="en-US" sz="1300" u="none" cap="none" strike="noStrike">
                <a:solidFill>
                  <a:srgbClr val="475569"/>
                </a:solidFill>
                <a:latin typeface="Calibri"/>
                <a:ea typeface="Calibri"/>
                <a:cs typeface="Calibri"/>
                <a:sym typeface="Calibri"/>
              </a:rPr>
              <a:t>Two sensor streams per run: Arduino at variable hz + DAQ accelerometers at 1000hz</a:t>
            </a:r>
            <a:endParaRPr b="0" i="0" sz="1300" u="none" cap="none" strike="noStrike">
              <a:solidFill>
                <a:schemeClr val="dk1"/>
              </a:solidFill>
              <a:latin typeface="Calibri"/>
              <a:ea typeface="Calibri"/>
              <a:cs typeface="Calibri"/>
              <a:sym typeface="Calibri"/>
            </a:endParaRPr>
          </a:p>
        </p:txBody>
      </p:sp>
      <p:sp>
        <p:nvSpPr>
          <p:cNvPr id="114" name="Google Shape;114;p3"/>
          <p:cNvSpPr/>
          <p:nvPr/>
        </p:nvSpPr>
        <p:spPr>
          <a:xfrm>
            <a:off x="470900" y="3185175"/>
            <a:ext cx="54900" cy="54900"/>
          </a:xfrm>
          <a:prstGeom prst="ellipse">
            <a:avLst/>
          </a:prstGeom>
          <a:solidFill>
            <a:srgbClr val="2563EB"/>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115" name="Google Shape;115;p3"/>
          <p:cNvSpPr/>
          <p:nvPr/>
        </p:nvSpPr>
        <p:spPr>
          <a:xfrm>
            <a:off x="608060" y="3057159"/>
            <a:ext cx="3794700" cy="347400"/>
          </a:xfrm>
          <a:prstGeom prst="rect">
            <a:avLst/>
          </a:prstGeom>
          <a:noFill/>
          <a:ln>
            <a:noFill/>
          </a:ln>
        </p:spPr>
        <p:txBody>
          <a:bodyPr anchorCtr="0" anchor="ctr" bIns="0" lIns="0" spcFirstLastPara="1" rIns="0" wrap="square" tIns="0">
            <a:normAutofit/>
          </a:bodyPr>
          <a:lstStyle/>
          <a:p>
            <a:pPr indent="0" lvl="0" marL="0" marR="0" rtl="0" algn="l">
              <a:lnSpc>
                <a:spcPct val="115000"/>
              </a:lnSpc>
              <a:spcBef>
                <a:spcPts val="0"/>
              </a:spcBef>
              <a:spcAft>
                <a:spcPts val="0"/>
              </a:spcAft>
              <a:buClr>
                <a:srgbClr val="475569"/>
              </a:buClr>
              <a:buSzPts val="1100"/>
              <a:buFont typeface="Calibri"/>
              <a:buNone/>
            </a:pPr>
            <a:r>
              <a:rPr b="0" i="0" lang="en-US" sz="1300" u="none" cap="none" strike="noStrike">
                <a:solidFill>
                  <a:srgbClr val="475569"/>
                </a:solidFill>
                <a:latin typeface="Calibri"/>
                <a:ea typeface="Calibri"/>
                <a:cs typeface="Calibri"/>
                <a:sym typeface="Calibri"/>
              </a:rPr>
              <a:t>Aligned both onto a single 25hz timeline using linear interpolation</a:t>
            </a:r>
            <a:endParaRPr b="0" i="0" sz="1300" u="none" cap="none" strike="noStrike">
              <a:solidFill>
                <a:schemeClr val="dk1"/>
              </a:solidFill>
              <a:latin typeface="Calibri"/>
              <a:ea typeface="Calibri"/>
              <a:cs typeface="Calibri"/>
              <a:sym typeface="Calibri"/>
            </a:endParaRPr>
          </a:p>
        </p:txBody>
      </p:sp>
      <p:sp>
        <p:nvSpPr>
          <p:cNvPr id="116" name="Google Shape;116;p3"/>
          <p:cNvSpPr/>
          <p:nvPr/>
        </p:nvSpPr>
        <p:spPr>
          <a:xfrm>
            <a:off x="470900" y="3635671"/>
            <a:ext cx="54900" cy="54900"/>
          </a:xfrm>
          <a:prstGeom prst="ellipse">
            <a:avLst/>
          </a:prstGeom>
          <a:solidFill>
            <a:srgbClr val="2563EB"/>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117" name="Google Shape;117;p3"/>
          <p:cNvSpPr/>
          <p:nvPr/>
        </p:nvSpPr>
        <p:spPr>
          <a:xfrm>
            <a:off x="608060" y="3507656"/>
            <a:ext cx="3794700" cy="347400"/>
          </a:xfrm>
          <a:prstGeom prst="rect">
            <a:avLst/>
          </a:prstGeom>
          <a:noFill/>
          <a:ln>
            <a:noFill/>
          </a:ln>
        </p:spPr>
        <p:txBody>
          <a:bodyPr anchorCtr="0" anchor="ctr" bIns="0" lIns="0" spcFirstLastPara="1" rIns="0" wrap="square" tIns="0">
            <a:normAutofit/>
          </a:bodyPr>
          <a:lstStyle/>
          <a:p>
            <a:pPr indent="0" lvl="0" marL="0" marR="0" rtl="0" algn="l">
              <a:lnSpc>
                <a:spcPct val="115000"/>
              </a:lnSpc>
              <a:spcBef>
                <a:spcPts val="0"/>
              </a:spcBef>
              <a:spcAft>
                <a:spcPts val="0"/>
              </a:spcAft>
              <a:buClr>
                <a:srgbClr val="475569"/>
              </a:buClr>
              <a:buSzPts val="1100"/>
              <a:buFont typeface="Calibri"/>
              <a:buNone/>
            </a:pPr>
            <a:r>
              <a:rPr b="0" i="0" lang="en-US" sz="1300" u="none" cap="none" strike="noStrike">
                <a:solidFill>
                  <a:srgbClr val="475569"/>
                </a:solidFill>
                <a:latin typeface="Calibri"/>
                <a:ea typeface="Calibri"/>
                <a:cs typeface="Calibri"/>
                <a:sym typeface="Calibri"/>
              </a:rPr>
              <a:t>Zero broken runs — </a:t>
            </a:r>
            <a:r>
              <a:rPr lang="en-US" sz="1300">
                <a:solidFill>
                  <a:srgbClr val="475569"/>
                </a:solidFill>
                <a:latin typeface="Calibri"/>
                <a:ea typeface="Calibri"/>
                <a:cs typeface="Calibri"/>
                <a:sym typeface="Calibri"/>
              </a:rPr>
              <a:t>all</a:t>
            </a:r>
            <a:r>
              <a:rPr b="0" i="0" lang="en-US" sz="1300" u="none" cap="none" strike="noStrike">
                <a:solidFill>
                  <a:srgbClr val="475569"/>
                </a:solidFill>
                <a:latin typeface="Calibri"/>
                <a:ea typeface="Calibri"/>
                <a:cs typeface="Calibri"/>
                <a:sym typeface="Calibri"/>
              </a:rPr>
              <a:t> runs successfully aligned with no missing files</a:t>
            </a:r>
            <a:endParaRPr b="0" i="0" sz="1300" u="none" cap="none" strike="noStrike">
              <a:solidFill>
                <a:schemeClr val="dk1"/>
              </a:solidFill>
              <a:latin typeface="Calibri"/>
              <a:ea typeface="Calibri"/>
              <a:cs typeface="Calibri"/>
              <a:sym typeface="Calibri"/>
            </a:endParaRPr>
          </a:p>
        </p:txBody>
      </p:sp>
      <p:sp>
        <p:nvSpPr>
          <p:cNvPr id="118" name="Google Shape;118;p3"/>
          <p:cNvSpPr/>
          <p:nvPr/>
        </p:nvSpPr>
        <p:spPr>
          <a:xfrm>
            <a:off x="411430" y="4041168"/>
            <a:ext cx="1353300" cy="7497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3"/>
          <p:cNvSpPr/>
          <p:nvPr/>
        </p:nvSpPr>
        <p:spPr>
          <a:xfrm>
            <a:off x="484582" y="4096032"/>
            <a:ext cx="1206900" cy="39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2563EB"/>
              </a:buClr>
              <a:buSzPts val="1600"/>
              <a:buFont typeface="Georgia"/>
              <a:buNone/>
            </a:pPr>
            <a:r>
              <a:rPr b="1" i="0" lang="en-US" sz="1600" u="none" cap="none" strike="noStrike">
                <a:solidFill>
                  <a:srgbClr val="2563EB"/>
                </a:solidFill>
                <a:latin typeface="Georgia"/>
                <a:ea typeface="Georgia"/>
                <a:cs typeface="Georgia"/>
                <a:sym typeface="Georgia"/>
              </a:rPr>
              <a:t>108/108</a:t>
            </a:r>
            <a:endParaRPr b="0" i="0" sz="1600" u="none" cap="none" strike="noStrike">
              <a:solidFill>
                <a:schemeClr val="dk1"/>
              </a:solidFill>
              <a:latin typeface="Calibri"/>
              <a:ea typeface="Calibri"/>
              <a:cs typeface="Calibri"/>
              <a:sym typeface="Calibri"/>
            </a:endParaRPr>
          </a:p>
        </p:txBody>
      </p:sp>
      <p:sp>
        <p:nvSpPr>
          <p:cNvPr id="120" name="Google Shape;120;p3"/>
          <p:cNvSpPr/>
          <p:nvPr/>
        </p:nvSpPr>
        <p:spPr>
          <a:xfrm>
            <a:off x="484582" y="4491053"/>
            <a:ext cx="1206900" cy="2700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94A3B8"/>
              </a:buClr>
              <a:buSzPts val="800"/>
              <a:buFont typeface="Calibri"/>
              <a:buNone/>
            </a:pPr>
            <a:r>
              <a:rPr b="0" i="0" lang="en-US" sz="800" u="none" cap="none" strike="noStrike">
                <a:solidFill>
                  <a:srgbClr val="94A3B8"/>
                </a:solidFill>
                <a:latin typeface="Calibri"/>
                <a:ea typeface="Calibri"/>
                <a:cs typeface="Calibri"/>
                <a:sym typeface="Calibri"/>
              </a:rPr>
              <a:t>Runs aligned</a:t>
            </a:r>
            <a:endParaRPr b="0" i="0" sz="800" u="none" cap="none" strike="noStrike">
              <a:solidFill>
                <a:schemeClr val="dk1"/>
              </a:solidFill>
              <a:latin typeface="Calibri"/>
              <a:ea typeface="Calibri"/>
              <a:cs typeface="Calibri"/>
              <a:sym typeface="Calibri"/>
            </a:endParaRPr>
          </a:p>
        </p:txBody>
      </p:sp>
      <p:sp>
        <p:nvSpPr>
          <p:cNvPr id="121" name="Google Shape;121;p3"/>
          <p:cNvSpPr/>
          <p:nvPr/>
        </p:nvSpPr>
        <p:spPr>
          <a:xfrm>
            <a:off x="1828750" y="4041168"/>
            <a:ext cx="1353300" cy="7497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3"/>
          <p:cNvSpPr/>
          <p:nvPr/>
        </p:nvSpPr>
        <p:spPr>
          <a:xfrm>
            <a:off x="1901902" y="4096032"/>
            <a:ext cx="1206900" cy="39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2563EB"/>
              </a:buClr>
              <a:buSzPts val="1600"/>
              <a:buFont typeface="Georgia"/>
              <a:buNone/>
            </a:pPr>
            <a:r>
              <a:rPr b="1" i="0" lang="en-US" sz="1600" u="none" cap="none" strike="noStrike">
                <a:solidFill>
                  <a:srgbClr val="2563EB"/>
                </a:solidFill>
                <a:latin typeface="Georgia"/>
                <a:ea typeface="Georgia"/>
                <a:cs typeface="Georgia"/>
                <a:sym typeface="Georgia"/>
              </a:rPr>
              <a:t>25 Hz</a:t>
            </a:r>
            <a:endParaRPr b="0" i="0" sz="1600" u="none" cap="none" strike="noStrike">
              <a:solidFill>
                <a:schemeClr val="dk1"/>
              </a:solidFill>
              <a:latin typeface="Calibri"/>
              <a:ea typeface="Calibri"/>
              <a:cs typeface="Calibri"/>
              <a:sym typeface="Calibri"/>
            </a:endParaRPr>
          </a:p>
        </p:txBody>
      </p:sp>
      <p:sp>
        <p:nvSpPr>
          <p:cNvPr id="123" name="Google Shape;123;p3"/>
          <p:cNvSpPr/>
          <p:nvPr/>
        </p:nvSpPr>
        <p:spPr>
          <a:xfrm>
            <a:off x="1901902" y="4491053"/>
            <a:ext cx="1206900" cy="2700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94A3B8"/>
              </a:buClr>
              <a:buSzPts val="800"/>
              <a:buFont typeface="Calibri"/>
              <a:buNone/>
            </a:pPr>
            <a:r>
              <a:rPr b="0" i="0" lang="en-US" sz="800" u="none" cap="none" strike="noStrike">
                <a:solidFill>
                  <a:srgbClr val="94A3B8"/>
                </a:solidFill>
                <a:latin typeface="Calibri"/>
                <a:ea typeface="Calibri"/>
                <a:cs typeface="Calibri"/>
                <a:sym typeface="Calibri"/>
              </a:rPr>
              <a:t>Timeline</a:t>
            </a:r>
            <a:endParaRPr b="0" i="0" sz="800" u="none" cap="none" strike="noStrike">
              <a:solidFill>
                <a:schemeClr val="dk1"/>
              </a:solidFill>
              <a:latin typeface="Calibri"/>
              <a:ea typeface="Calibri"/>
              <a:cs typeface="Calibri"/>
              <a:sym typeface="Calibri"/>
            </a:endParaRPr>
          </a:p>
        </p:txBody>
      </p:sp>
      <p:sp>
        <p:nvSpPr>
          <p:cNvPr id="124" name="Google Shape;124;p3"/>
          <p:cNvSpPr/>
          <p:nvPr/>
        </p:nvSpPr>
        <p:spPr>
          <a:xfrm>
            <a:off x="3246070" y="4041168"/>
            <a:ext cx="1353300" cy="7497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3"/>
          <p:cNvSpPr/>
          <p:nvPr/>
        </p:nvSpPr>
        <p:spPr>
          <a:xfrm>
            <a:off x="3319222" y="4096032"/>
            <a:ext cx="1206900" cy="39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2563EB"/>
              </a:buClr>
              <a:buSzPts val="1600"/>
              <a:buFont typeface="Georgia"/>
              <a:buNone/>
            </a:pPr>
            <a:r>
              <a:rPr b="1" i="0" lang="en-US" sz="1600" u="none" cap="none" strike="noStrike">
                <a:solidFill>
                  <a:srgbClr val="2563EB"/>
                </a:solidFill>
                <a:latin typeface="Georgia"/>
                <a:ea typeface="Georgia"/>
                <a:cs typeface="Georgia"/>
                <a:sym typeface="Georgia"/>
              </a:rPr>
              <a:t>0 broken</a:t>
            </a:r>
            <a:endParaRPr b="0" i="0" sz="1600" u="none" cap="none" strike="noStrike">
              <a:solidFill>
                <a:schemeClr val="dk1"/>
              </a:solidFill>
              <a:latin typeface="Calibri"/>
              <a:ea typeface="Calibri"/>
              <a:cs typeface="Calibri"/>
              <a:sym typeface="Calibri"/>
            </a:endParaRPr>
          </a:p>
        </p:txBody>
      </p:sp>
      <p:sp>
        <p:nvSpPr>
          <p:cNvPr id="126" name="Google Shape;126;p3"/>
          <p:cNvSpPr/>
          <p:nvPr/>
        </p:nvSpPr>
        <p:spPr>
          <a:xfrm>
            <a:off x="3319222" y="4491053"/>
            <a:ext cx="1206900" cy="2700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94A3B8"/>
              </a:buClr>
              <a:buSzPts val="800"/>
              <a:buFont typeface="Calibri"/>
              <a:buNone/>
            </a:pPr>
            <a:r>
              <a:rPr b="0" i="0" lang="en-US" sz="800" u="none" cap="none" strike="noStrike">
                <a:solidFill>
                  <a:srgbClr val="94A3B8"/>
                </a:solidFill>
                <a:latin typeface="Calibri"/>
                <a:ea typeface="Calibri"/>
                <a:cs typeface="Calibri"/>
                <a:sym typeface="Calibri"/>
              </a:rPr>
              <a:t>Out of 108</a:t>
            </a:r>
            <a:endParaRPr b="0" i="0" sz="800" u="none" cap="none" strike="noStrike">
              <a:solidFill>
                <a:schemeClr val="dk1"/>
              </a:solidFill>
              <a:latin typeface="Calibri"/>
              <a:ea typeface="Calibri"/>
              <a:cs typeface="Calibri"/>
              <a:sym typeface="Calibri"/>
            </a:endParaRPr>
          </a:p>
        </p:txBody>
      </p:sp>
      <p:sp>
        <p:nvSpPr>
          <p:cNvPr id="127" name="Google Shape;127;p3"/>
          <p:cNvSpPr/>
          <p:nvPr/>
        </p:nvSpPr>
        <p:spPr>
          <a:xfrm>
            <a:off x="4736650" y="1582075"/>
            <a:ext cx="4206300" cy="27129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3"/>
          <p:cNvSpPr/>
          <p:nvPr/>
        </p:nvSpPr>
        <p:spPr>
          <a:xfrm>
            <a:off x="4736655" y="3845159"/>
            <a:ext cx="42063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3"/>
          <p:cNvSpPr/>
          <p:nvPr/>
        </p:nvSpPr>
        <p:spPr>
          <a:xfrm>
            <a:off x="4869295" y="3949785"/>
            <a:ext cx="4023300" cy="2742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900"/>
              <a:buFont typeface="Calibri"/>
              <a:buNone/>
            </a:pPr>
            <a:r>
              <a:rPr b="0" i="0" lang="en-US" sz="900" u="none" cap="none" strike="noStrike">
                <a:solidFill>
                  <a:srgbClr val="475569"/>
                </a:solidFill>
                <a:latin typeface="Calibri"/>
                <a:ea typeface="Calibri"/>
                <a:cs typeface="Calibri"/>
                <a:sym typeface="Calibri"/>
              </a:rPr>
              <a:t>RMS vibration across all 12 conditions and 3 materials. Fully_Loaded_Train shows highest vibration as expected — confirming clean aligned data.</a:t>
            </a:r>
            <a:endParaRPr b="0" i="0" sz="900" u="none" cap="none" strike="noStrike">
              <a:solidFill>
                <a:schemeClr val="dk1"/>
              </a:solidFill>
              <a:latin typeface="Calibri"/>
              <a:ea typeface="Calibri"/>
              <a:cs typeface="Calibri"/>
              <a:sym typeface="Calibri"/>
            </a:endParaRPr>
          </a:p>
        </p:txBody>
      </p:sp>
      <p:pic>
        <p:nvPicPr>
          <p:cNvPr id="130" name="Google Shape;130;p3"/>
          <p:cNvPicPr preferRelativeResize="0"/>
          <p:nvPr/>
        </p:nvPicPr>
        <p:blipFill rotWithShape="1">
          <a:blip r:embed="rId3">
            <a:alphaModFix/>
          </a:blip>
          <a:srcRect b="0" l="0" r="0" t="0"/>
          <a:stretch/>
        </p:blipFill>
        <p:spPr>
          <a:xfrm>
            <a:off x="4736650" y="1764997"/>
            <a:ext cx="4206299" cy="172530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 name="Shape 135"/>
        <p:cNvGrpSpPr/>
        <p:nvPr/>
      </p:nvGrpSpPr>
      <p:grpSpPr>
        <a:xfrm>
          <a:off x="0" y="0"/>
          <a:ext cx="0" cy="0"/>
          <a:chOff x="0" y="0"/>
          <a:chExt cx="0" cy="0"/>
        </a:xfrm>
      </p:grpSpPr>
      <p:sp>
        <p:nvSpPr>
          <p:cNvPr id="136" name="Google Shape;136;p4"/>
          <p:cNvSpPr/>
          <p:nvPr/>
        </p:nvSpPr>
        <p:spPr>
          <a:xfrm>
            <a:off x="0" y="0"/>
            <a:ext cx="54864" cy="5143500"/>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4"/>
          <p:cNvSpPr/>
          <p:nvPr/>
        </p:nvSpPr>
        <p:spPr>
          <a:xfrm>
            <a:off x="411480" y="256032"/>
            <a:ext cx="73152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9488"/>
              </a:buClr>
              <a:buSzPts val="800"/>
              <a:buFont typeface="Calibri"/>
              <a:buNone/>
            </a:pPr>
            <a:r>
              <a:rPr b="1" i="0" lang="en-US" sz="800" u="none" cap="none" strike="noStrike">
                <a:solidFill>
                  <a:srgbClr val="0D9488"/>
                </a:solidFill>
                <a:latin typeface="Calibri"/>
                <a:ea typeface="Calibri"/>
                <a:cs typeface="Calibri"/>
                <a:sym typeface="Calibri"/>
              </a:rPr>
              <a:t>MEMBER 2  ·  SHIWEI JIANG</a:t>
            </a:r>
            <a:endParaRPr b="0" i="0" sz="800" u="none" cap="none" strike="noStrike">
              <a:solidFill>
                <a:schemeClr val="dk1"/>
              </a:solidFill>
              <a:latin typeface="Calibri"/>
              <a:ea typeface="Calibri"/>
              <a:cs typeface="Calibri"/>
              <a:sym typeface="Calibri"/>
            </a:endParaRPr>
          </a:p>
        </p:txBody>
      </p:sp>
      <p:sp>
        <p:nvSpPr>
          <p:cNvPr id="138" name="Google Shape;138;p4"/>
          <p:cNvSpPr/>
          <p:nvPr/>
        </p:nvSpPr>
        <p:spPr>
          <a:xfrm>
            <a:off x="411480" y="475488"/>
            <a:ext cx="7772400" cy="6583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1E293B"/>
              </a:buClr>
              <a:buSzPts val="2400"/>
              <a:buFont typeface="Georgia"/>
              <a:buNone/>
            </a:pPr>
            <a:r>
              <a:rPr b="1" i="0" lang="en-US" sz="2400" u="none" cap="none" strike="noStrike">
                <a:solidFill>
                  <a:srgbClr val="1E293B"/>
                </a:solidFill>
                <a:latin typeface="Georgia"/>
                <a:ea typeface="Georgia"/>
                <a:cs typeface="Georgia"/>
                <a:sym typeface="Georgia"/>
              </a:rPr>
              <a:t>Window Features &amp; Digital Twin Regression</a:t>
            </a:r>
            <a:endParaRPr b="0" i="0" sz="2400" u="none" cap="none" strike="noStrike">
              <a:solidFill>
                <a:schemeClr val="dk1"/>
              </a:solidFill>
              <a:latin typeface="Calibri"/>
              <a:ea typeface="Calibri"/>
              <a:cs typeface="Calibri"/>
              <a:sym typeface="Calibri"/>
            </a:endParaRPr>
          </a:p>
        </p:txBody>
      </p:sp>
      <p:sp>
        <p:nvSpPr>
          <p:cNvPr id="139" name="Google Shape;139;p4"/>
          <p:cNvSpPr/>
          <p:nvPr/>
        </p:nvSpPr>
        <p:spPr>
          <a:xfrm>
            <a:off x="411480" y="1188720"/>
            <a:ext cx="8321040" cy="9144"/>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4"/>
          <p:cNvSpPr/>
          <p:nvPr/>
        </p:nvSpPr>
        <p:spPr>
          <a:xfrm>
            <a:off x="7863840" y="256032"/>
            <a:ext cx="86868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900"/>
              <a:buFont typeface="Calibri"/>
              <a:buNone/>
            </a:pPr>
            <a:r>
              <a:rPr b="0" i="0" lang="en-US" sz="900" u="none" cap="none" strike="noStrike">
                <a:solidFill>
                  <a:srgbClr val="94A3B8"/>
                </a:solidFill>
                <a:latin typeface="Calibri"/>
                <a:ea typeface="Calibri"/>
                <a:cs typeface="Calibri"/>
                <a:sym typeface="Calibri"/>
              </a:rPr>
              <a:t>4 / 8</a:t>
            </a:r>
            <a:endParaRPr b="0" i="0" sz="900" u="none" cap="none" strike="noStrike">
              <a:solidFill>
                <a:schemeClr val="dk1"/>
              </a:solidFill>
              <a:latin typeface="Calibri"/>
              <a:ea typeface="Calibri"/>
              <a:cs typeface="Calibri"/>
              <a:sym typeface="Calibri"/>
            </a:endParaRPr>
          </a:p>
        </p:txBody>
      </p:sp>
      <p:sp>
        <p:nvSpPr>
          <p:cNvPr id="141" name="Google Shape;141;p4"/>
          <p:cNvSpPr/>
          <p:nvPr/>
        </p:nvSpPr>
        <p:spPr>
          <a:xfrm>
            <a:off x="539525" y="1778013"/>
            <a:ext cx="54900" cy="54900"/>
          </a:xfrm>
          <a:prstGeom prst="ellipse">
            <a:avLst/>
          </a:prstGeom>
          <a:solidFill>
            <a:srgbClr val="0D9488"/>
          </a:solidFill>
          <a:ln cap="flat" cmpd="sng" w="12700">
            <a:solidFill>
              <a:srgbClr val="0D9488"/>
            </a:solidFill>
            <a:prstDash val="solid"/>
            <a:round/>
            <a:headEnd len="sm" w="sm" type="none"/>
            <a:tailEnd len="sm" w="sm" type="none"/>
          </a:ln>
        </p:spPr>
        <p:txBody>
          <a:bodyPr anchorCtr="0" anchor="ctr" bIns="91375" lIns="91375" spcFirstLastPara="1" rIns="91375" wrap="square" tIns="9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4"/>
          <p:cNvSpPr/>
          <p:nvPr/>
        </p:nvSpPr>
        <p:spPr>
          <a:xfrm>
            <a:off x="676685" y="1703105"/>
            <a:ext cx="3794700" cy="347400"/>
          </a:xfrm>
          <a:prstGeom prst="rect">
            <a:avLst/>
          </a:prstGeom>
          <a:noFill/>
          <a:ln>
            <a:noFill/>
          </a:ln>
        </p:spPr>
        <p:txBody>
          <a:bodyPr anchorCtr="0" anchor="ctr" bIns="0" lIns="0" spcFirstLastPara="1" rIns="0" wrap="square" tIns="0">
            <a:normAutofit/>
          </a:bodyPr>
          <a:lstStyle/>
          <a:p>
            <a:pPr indent="0" lvl="0" marL="0" marR="0" rtl="0" algn="l">
              <a:lnSpc>
                <a:spcPct val="115000"/>
              </a:lnSpc>
              <a:spcBef>
                <a:spcPts val="0"/>
              </a:spcBef>
              <a:spcAft>
                <a:spcPts val="0"/>
              </a:spcAft>
              <a:buClr>
                <a:srgbClr val="475569"/>
              </a:buClr>
              <a:buSzPts val="1100"/>
              <a:buFont typeface="Calibri"/>
              <a:buNone/>
            </a:pPr>
            <a:r>
              <a:rPr b="0" i="0" lang="en-US" sz="1000" u="none" cap="none" strike="noStrike">
                <a:solidFill>
                  <a:srgbClr val="475569"/>
                </a:solidFill>
                <a:latin typeface="Calibri"/>
                <a:ea typeface="Calibri"/>
                <a:cs typeface="Calibri"/>
                <a:sym typeface="Calibri"/>
              </a:rPr>
              <a:t>Sliced aligned data into non-overlapping 1-second windows (25 samples each at 25hz)</a:t>
            </a:r>
            <a:endParaRPr b="0" i="0" sz="1000" u="none" cap="none" strike="noStrike">
              <a:solidFill>
                <a:schemeClr val="dk1"/>
              </a:solidFill>
              <a:latin typeface="Calibri"/>
              <a:ea typeface="Calibri"/>
              <a:cs typeface="Calibri"/>
              <a:sym typeface="Calibri"/>
            </a:endParaRPr>
          </a:p>
        </p:txBody>
      </p:sp>
      <p:sp>
        <p:nvSpPr>
          <p:cNvPr id="143" name="Google Shape;143;p4"/>
          <p:cNvSpPr/>
          <p:nvPr/>
        </p:nvSpPr>
        <p:spPr>
          <a:xfrm>
            <a:off x="539525" y="2125329"/>
            <a:ext cx="54900" cy="54900"/>
          </a:xfrm>
          <a:prstGeom prst="ellipse">
            <a:avLst/>
          </a:prstGeom>
          <a:solidFill>
            <a:srgbClr val="0D9488"/>
          </a:solidFill>
          <a:ln cap="flat" cmpd="sng" w="12700">
            <a:solidFill>
              <a:srgbClr val="0D9488"/>
            </a:solidFill>
            <a:prstDash val="solid"/>
            <a:round/>
            <a:headEnd len="sm" w="sm" type="none"/>
            <a:tailEnd len="sm" w="sm" type="none"/>
          </a:ln>
        </p:spPr>
        <p:txBody>
          <a:bodyPr anchorCtr="0" anchor="ctr" bIns="91375" lIns="91375" spcFirstLastPara="1" rIns="91375" wrap="square" tIns="9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4"/>
          <p:cNvSpPr/>
          <p:nvPr/>
        </p:nvSpPr>
        <p:spPr>
          <a:xfrm>
            <a:off x="676685" y="2050577"/>
            <a:ext cx="3794700" cy="347400"/>
          </a:xfrm>
          <a:prstGeom prst="rect">
            <a:avLst/>
          </a:prstGeom>
          <a:noFill/>
          <a:ln>
            <a:noFill/>
          </a:ln>
        </p:spPr>
        <p:txBody>
          <a:bodyPr anchorCtr="0" anchor="ctr" bIns="0" lIns="0" spcFirstLastPara="1" rIns="0" wrap="square" tIns="0">
            <a:normAutofit/>
          </a:bodyPr>
          <a:lstStyle/>
          <a:p>
            <a:pPr indent="0" lvl="0" marL="0" marR="0" rtl="0" algn="l">
              <a:lnSpc>
                <a:spcPct val="115000"/>
              </a:lnSpc>
              <a:spcBef>
                <a:spcPts val="0"/>
              </a:spcBef>
              <a:spcAft>
                <a:spcPts val="0"/>
              </a:spcAft>
              <a:buClr>
                <a:srgbClr val="475569"/>
              </a:buClr>
              <a:buSzPts val="1100"/>
              <a:buFont typeface="Calibri"/>
              <a:buNone/>
            </a:pPr>
            <a:r>
              <a:rPr b="0" i="0" lang="en-US" sz="1000" u="none" cap="none" strike="noStrike">
                <a:solidFill>
                  <a:srgbClr val="475569"/>
                </a:solidFill>
                <a:latin typeface="Calibri"/>
                <a:ea typeface="Calibri"/>
                <a:cs typeface="Calibri"/>
                <a:sym typeface="Calibri"/>
              </a:rPr>
              <a:t>6 summary features per window: mean, std, RMS, peak-to-peak, dominant frequency, spectral centroid</a:t>
            </a:r>
            <a:endParaRPr b="0" i="0" sz="1000" u="none" cap="none" strike="noStrike">
              <a:solidFill>
                <a:schemeClr val="dk1"/>
              </a:solidFill>
              <a:latin typeface="Calibri"/>
              <a:ea typeface="Calibri"/>
              <a:cs typeface="Calibri"/>
              <a:sym typeface="Calibri"/>
            </a:endParaRPr>
          </a:p>
        </p:txBody>
      </p:sp>
      <p:sp>
        <p:nvSpPr>
          <p:cNvPr id="145" name="Google Shape;145;p4"/>
          <p:cNvSpPr/>
          <p:nvPr/>
        </p:nvSpPr>
        <p:spPr>
          <a:xfrm>
            <a:off x="539525" y="2472646"/>
            <a:ext cx="54900" cy="54900"/>
          </a:xfrm>
          <a:prstGeom prst="ellipse">
            <a:avLst/>
          </a:prstGeom>
          <a:solidFill>
            <a:srgbClr val="0D9488"/>
          </a:solidFill>
          <a:ln cap="flat" cmpd="sng" w="12700">
            <a:solidFill>
              <a:srgbClr val="0D9488"/>
            </a:solidFill>
            <a:prstDash val="solid"/>
            <a:round/>
            <a:headEnd len="sm" w="sm" type="none"/>
            <a:tailEnd len="sm" w="sm" type="none"/>
          </a:ln>
        </p:spPr>
        <p:txBody>
          <a:bodyPr anchorCtr="0" anchor="ctr" bIns="91375" lIns="91375" spcFirstLastPara="1" rIns="91375" wrap="square" tIns="9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4"/>
          <p:cNvSpPr/>
          <p:nvPr/>
        </p:nvSpPr>
        <p:spPr>
          <a:xfrm>
            <a:off x="676685" y="2398049"/>
            <a:ext cx="3794700" cy="347400"/>
          </a:xfrm>
          <a:prstGeom prst="rect">
            <a:avLst/>
          </a:prstGeom>
          <a:noFill/>
          <a:ln>
            <a:noFill/>
          </a:ln>
        </p:spPr>
        <p:txBody>
          <a:bodyPr anchorCtr="0" anchor="ctr" bIns="0" lIns="0" spcFirstLastPara="1" rIns="0" wrap="square" tIns="0">
            <a:normAutofit/>
          </a:bodyPr>
          <a:lstStyle/>
          <a:p>
            <a:pPr indent="0" lvl="0" marL="0" marR="0" rtl="0" algn="l">
              <a:lnSpc>
                <a:spcPct val="115000"/>
              </a:lnSpc>
              <a:spcBef>
                <a:spcPts val="0"/>
              </a:spcBef>
              <a:spcAft>
                <a:spcPts val="0"/>
              </a:spcAft>
              <a:buClr>
                <a:srgbClr val="475569"/>
              </a:buClr>
              <a:buSzPts val="1100"/>
              <a:buFont typeface="Calibri"/>
              <a:buNone/>
            </a:pPr>
            <a:r>
              <a:rPr b="0" i="0" lang="en-US" sz="1000" u="none" cap="none" strike="noStrike">
                <a:solidFill>
                  <a:srgbClr val="475569"/>
                </a:solidFill>
                <a:latin typeface="Calibri"/>
                <a:ea typeface="Calibri"/>
                <a:cs typeface="Calibri"/>
                <a:sym typeface="Calibri"/>
              </a:rPr>
              <a:t>Random Forest regressor trained on operating context only — not vibration itself</a:t>
            </a:r>
            <a:endParaRPr b="0" i="0" sz="1000" u="none" cap="none" strike="noStrike">
              <a:solidFill>
                <a:schemeClr val="dk1"/>
              </a:solidFill>
              <a:latin typeface="Calibri"/>
              <a:ea typeface="Calibri"/>
              <a:cs typeface="Calibri"/>
              <a:sym typeface="Calibri"/>
            </a:endParaRPr>
          </a:p>
        </p:txBody>
      </p:sp>
      <p:sp>
        <p:nvSpPr>
          <p:cNvPr id="147" name="Google Shape;147;p4"/>
          <p:cNvSpPr/>
          <p:nvPr/>
        </p:nvSpPr>
        <p:spPr>
          <a:xfrm>
            <a:off x="539525" y="2819963"/>
            <a:ext cx="54900" cy="54900"/>
          </a:xfrm>
          <a:prstGeom prst="ellipse">
            <a:avLst/>
          </a:prstGeom>
          <a:solidFill>
            <a:srgbClr val="0D9488"/>
          </a:solidFill>
          <a:ln cap="flat" cmpd="sng" w="12700">
            <a:solidFill>
              <a:srgbClr val="0D9488"/>
            </a:solidFill>
            <a:prstDash val="solid"/>
            <a:round/>
            <a:headEnd len="sm" w="sm" type="none"/>
            <a:tailEnd len="sm" w="sm" type="none"/>
          </a:ln>
        </p:spPr>
        <p:txBody>
          <a:bodyPr anchorCtr="0" anchor="ctr" bIns="91375" lIns="91375" spcFirstLastPara="1" rIns="91375" wrap="square" tIns="9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4"/>
          <p:cNvSpPr/>
          <p:nvPr/>
        </p:nvSpPr>
        <p:spPr>
          <a:xfrm>
            <a:off x="676685" y="2745521"/>
            <a:ext cx="3794700" cy="347400"/>
          </a:xfrm>
          <a:prstGeom prst="rect">
            <a:avLst/>
          </a:prstGeom>
          <a:noFill/>
          <a:ln>
            <a:noFill/>
          </a:ln>
        </p:spPr>
        <p:txBody>
          <a:bodyPr anchorCtr="0" anchor="ctr" bIns="0" lIns="0" spcFirstLastPara="1" rIns="0" wrap="square" tIns="0">
            <a:normAutofit/>
          </a:bodyPr>
          <a:lstStyle/>
          <a:p>
            <a:pPr indent="0" lvl="0" marL="0" marR="0" rtl="0" algn="l">
              <a:lnSpc>
                <a:spcPct val="115000"/>
              </a:lnSpc>
              <a:spcBef>
                <a:spcPts val="0"/>
              </a:spcBef>
              <a:spcAft>
                <a:spcPts val="0"/>
              </a:spcAft>
              <a:buClr>
                <a:srgbClr val="475569"/>
              </a:buClr>
              <a:buSzPts val="1100"/>
              <a:buFont typeface="Calibri"/>
              <a:buNone/>
            </a:pPr>
            <a:r>
              <a:rPr b="0" i="0" lang="en-US" sz="1000" u="none" cap="none" strike="noStrike">
                <a:solidFill>
                  <a:srgbClr val="475569"/>
                </a:solidFill>
                <a:latin typeface="Calibri"/>
                <a:ea typeface="Calibri"/>
                <a:cs typeface="Calibri"/>
                <a:sym typeface="Calibri"/>
              </a:rPr>
              <a:t>Residual = actual g_rms − expected_vibration, quantifying how surprising the vibration is</a:t>
            </a:r>
            <a:endParaRPr b="0" i="0" sz="1000" u="none" cap="none" strike="noStrike">
              <a:solidFill>
                <a:schemeClr val="dk1"/>
              </a:solidFill>
              <a:latin typeface="Calibri"/>
              <a:ea typeface="Calibri"/>
              <a:cs typeface="Calibri"/>
              <a:sym typeface="Calibri"/>
            </a:endParaRPr>
          </a:p>
        </p:txBody>
      </p:sp>
      <p:sp>
        <p:nvSpPr>
          <p:cNvPr id="149" name="Google Shape;149;p4"/>
          <p:cNvSpPr/>
          <p:nvPr/>
        </p:nvSpPr>
        <p:spPr>
          <a:xfrm>
            <a:off x="539525" y="3167279"/>
            <a:ext cx="54900" cy="54900"/>
          </a:xfrm>
          <a:prstGeom prst="ellipse">
            <a:avLst/>
          </a:prstGeom>
          <a:solidFill>
            <a:srgbClr val="0D9488"/>
          </a:solidFill>
          <a:ln cap="flat" cmpd="sng" w="12700">
            <a:solidFill>
              <a:srgbClr val="0D9488"/>
            </a:solidFill>
            <a:prstDash val="solid"/>
            <a:round/>
            <a:headEnd len="sm" w="sm" type="none"/>
            <a:tailEnd len="sm" w="sm" type="none"/>
          </a:ln>
        </p:spPr>
        <p:txBody>
          <a:bodyPr anchorCtr="0" anchor="ctr" bIns="91375" lIns="91375" spcFirstLastPara="1" rIns="91375" wrap="square" tIns="9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4"/>
          <p:cNvSpPr/>
          <p:nvPr/>
        </p:nvSpPr>
        <p:spPr>
          <a:xfrm>
            <a:off x="676685" y="3092993"/>
            <a:ext cx="3794700" cy="347400"/>
          </a:xfrm>
          <a:prstGeom prst="rect">
            <a:avLst/>
          </a:prstGeom>
          <a:noFill/>
          <a:ln>
            <a:noFill/>
          </a:ln>
        </p:spPr>
        <p:txBody>
          <a:bodyPr anchorCtr="0" anchor="ctr" bIns="0" lIns="0" spcFirstLastPara="1" rIns="0" wrap="square" tIns="0">
            <a:normAutofit/>
          </a:bodyPr>
          <a:lstStyle/>
          <a:p>
            <a:pPr indent="0" lvl="0" marL="0" marR="0" rtl="0" algn="l">
              <a:lnSpc>
                <a:spcPct val="115000"/>
              </a:lnSpc>
              <a:spcBef>
                <a:spcPts val="0"/>
              </a:spcBef>
              <a:spcAft>
                <a:spcPts val="0"/>
              </a:spcAft>
              <a:buClr>
                <a:srgbClr val="475569"/>
              </a:buClr>
              <a:buSzPts val="1100"/>
              <a:buFont typeface="Calibri"/>
              <a:buNone/>
            </a:pPr>
            <a:r>
              <a:rPr b="0" i="0" lang="en-US" sz="1000" u="none" cap="none" strike="noStrike">
                <a:solidFill>
                  <a:srgbClr val="475569"/>
                </a:solidFill>
                <a:latin typeface="Calibri"/>
                <a:ea typeface="Calibri"/>
                <a:cs typeface="Calibri"/>
                <a:sym typeface="Calibri"/>
              </a:rPr>
              <a:t>GroupKFold cross-validation grouped by run_id — prevents data leakage between runs</a:t>
            </a:r>
            <a:endParaRPr b="0" i="0" sz="1000" u="none" cap="none" strike="noStrike">
              <a:solidFill>
                <a:schemeClr val="dk1"/>
              </a:solidFill>
              <a:latin typeface="Calibri"/>
              <a:ea typeface="Calibri"/>
              <a:cs typeface="Calibri"/>
              <a:sym typeface="Calibri"/>
            </a:endParaRPr>
          </a:p>
        </p:txBody>
      </p:sp>
      <p:sp>
        <p:nvSpPr>
          <p:cNvPr id="151" name="Google Shape;151;p4"/>
          <p:cNvSpPr/>
          <p:nvPr/>
        </p:nvSpPr>
        <p:spPr>
          <a:xfrm>
            <a:off x="411467" y="3706318"/>
            <a:ext cx="1353300" cy="7497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4"/>
          <p:cNvSpPr/>
          <p:nvPr/>
        </p:nvSpPr>
        <p:spPr>
          <a:xfrm>
            <a:off x="484620" y="3761182"/>
            <a:ext cx="1206900" cy="39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D9488"/>
              </a:buClr>
              <a:buSzPts val="1600"/>
              <a:buFont typeface="Georgia"/>
              <a:buNone/>
            </a:pPr>
            <a:r>
              <a:rPr b="1" i="0" lang="en-US" sz="1600" u="none" cap="none" strike="noStrike">
                <a:solidFill>
                  <a:srgbClr val="0D9488"/>
                </a:solidFill>
                <a:latin typeface="Georgia"/>
                <a:ea typeface="Georgia"/>
                <a:cs typeface="Georgia"/>
                <a:sym typeface="Georgia"/>
              </a:rPr>
              <a:t>R² = 0.91</a:t>
            </a:r>
            <a:endParaRPr b="0" i="0" sz="1600" u="none" cap="none" strike="noStrike">
              <a:solidFill>
                <a:schemeClr val="dk1"/>
              </a:solidFill>
              <a:latin typeface="Calibri"/>
              <a:ea typeface="Calibri"/>
              <a:cs typeface="Calibri"/>
              <a:sym typeface="Calibri"/>
            </a:endParaRPr>
          </a:p>
        </p:txBody>
      </p:sp>
      <p:sp>
        <p:nvSpPr>
          <p:cNvPr id="153" name="Google Shape;153;p4"/>
          <p:cNvSpPr/>
          <p:nvPr/>
        </p:nvSpPr>
        <p:spPr>
          <a:xfrm>
            <a:off x="484620" y="4156203"/>
            <a:ext cx="1206900" cy="2700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94A3B8"/>
              </a:buClr>
              <a:buSzPts val="800"/>
              <a:buFont typeface="Calibri"/>
              <a:buNone/>
            </a:pPr>
            <a:r>
              <a:rPr b="0" i="0" lang="en-US" sz="800" u="none" cap="none" strike="noStrike">
                <a:solidFill>
                  <a:srgbClr val="94A3B8"/>
                </a:solidFill>
                <a:latin typeface="Calibri"/>
                <a:ea typeface="Calibri"/>
                <a:cs typeface="Calibri"/>
                <a:sym typeface="Calibri"/>
              </a:rPr>
              <a:t>Overall fit ✓</a:t>
            </a:r>
            <a:endParaRPr b="0" i="0" sz="800" u="none" cap="none" strike="noStrike">
              <a:solidFill>
                <a:schemeClr val="dk1"/>
              </a:solidFill>
              <a:latin typeface="Calibri"/>
              <a:ea typeface="Calibri"/>
              <a:cs typeface="Calibri"/>
              <a:sym typeface="Calibri"/>
            </a:endParaRPr>
          </a:p>
        </p:txBody>
      </p:sp>
      <p:sp>
        <p:nvSpPr>
          <p:cNvPr id="154" name="Google Shape;154;p4"/>
          <p:cNvSpPr/>
          <p:nvPr/>
        </p:nvSpPr>
        <p:spPr>
          <a:xfrm>
            <a:off x="1828788" y="3706318"/>
            <a:ext cx="1353300" cy="7497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4"/>
          <p:cNvSpPr/>
          <p:nvPr/>
        </p:nvSpPr>
        <p:spPr>
          <a:xfrm>
            <a:off x="1901940" y="3761182"/>
            <a:ext cx="1206900" cy="39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D9488"/>
              </a:buClr>
              <a:buSzPts val="1600"/>
              <a:buFont typeface="Georgia"/>
              <a:buNone/>
            </a:pPr>
            <a:r>
              <a:rPr b="1" i="0" lang="en-US" sz="1600" u="none" cap="none" strike="noStrike">
                <a:solidFill>
                  <a:srgbClr val="0D9488"/>
                </a:solidFill>
                <a:latin typeface="Georgia"/>
                <a:ea typeface="Georgia"/>
                <a:cs typeface="Georgia"/>
                <a:sym typeface="Georgia"/>
              </a:rPr>
              <a:t>MAE 0.005</a:t>
            </a:r>
            <a:endParaRPr b="0" i="0" sz="1600" u="none" cap="none" strike="noStrike">
              <a:solidFill>
                <a:schemeClr val="dk1"/>
              </a:solidFill>
              <a:latin typeface="Calibri"/>
              <a:ea typeface="Calibri"/>
              <a:cs typeface="Calibri"/>
              <a:sym typeface="Calibri"/>
            </a:endParaRPr>
          </a:p>
        </p:txBody>
      </p:sp>
      <p:sp>
        <p:nvSpPr>
          <p:cNvPr id="156" name="Google Shape;156;p4"/>
          <p:cNvSpPr/>
          <p:nvPr/>
        </p:nvSpPr>
        <p:spPr>
          <a:xfrm>
            <a:off x="1901940" y="4156203"/>
            <a:ext cx="1206900" cy="2700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94A3B8"/>
              </a:buClr>
              <a:buSzPts val="800"/>
              <a:buFont typeface="Calibri"/>
              <a:buNone/>
            </a:pPr>
            <a:r>
              <a:rPr b="0" i="0" lang="en-US" sz="800" u="none" cap="none" strike="noStrike">
                <a:solidFill>
                  <a:srgbClr val="94A3B8"/>
                </a:solidFill>
                <a:latin typeface="Calibri"/>
                <a:ea typeface="Calibri"/>
                <a:cs typeface="Calibri"/>
                <a:sym typeface="Calibri"/>
              </a:rPr>
              <a:t>g-units error</a:t>
            </a:r>
            <a:endParaRPr b="0" i="0" sz="800" u="none" cap="none" strike="noStrike">
              <a:solidFill>
                <a:schemeClr val="dk1"/>
              </a:solidFill>
              <a:latin typeface="Calibri"/>
              <a:ea typeface="Calibri"/>
              <a:cs typeface="Calibri"/>
              <a:sym typeface="Calibri"/>
            </a:endParaRPr>
          </a:p>
        </p:txBody>
      </p:sp>
      <p:sp>
        <p:nvSpPr>
          <p:cNvPr id="157" name="Google Shape;157;p4"/>
          <p:cNvSpPr/>
          <p:nvPr/>
        </p:nvSpPr>
        <p:spPr>
          <a:xfrm>
            <a:off x="3246107" y="3706318"/>
            <a:ext cx="1353300" cy="7497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4"/>
          <p:cNvSpPr/>
          <p:nvPr/>
        </p:nvSpPr>
        <p:spPr>
          <a:xfrm>
            <a:off x="3319260" y="3761182"/>
            <a:ext cx="1206900" cy="39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D9488"/>
              </a:buClr>
              <a:buSzPts val="1600"/>
              <a:buFont typeface="Georgia"/>
              <a:buNone/>
            </a:pPr>
            <a:r>
              <a:rPr b="1" i="0" lang="en-US" sz="1600" u="none" cap="none" strike="noStrike">
                <a:solidFill>
                  <a:srgbClr val="0D9488"/>
                </a:solidFill>
                <a:latin typeface="Georgia"/>
                <a:ea typeface="Georgia"/>
                <a:cs typeface="Georgia"/>
                <a:sym typeface="Georgia"/>
              </a:rPr>
              <a:t>Bias = 0.000</a:t>
            </a:r>
            <a:endParaRPr b="0" i="0" sz="1600" u="none" cap="none" strike="noStrike">
              <a:solidFill>
                <a:schemeClr val="dk1"/>
              </a:solidFill>
              <a:latin typeface="Calibri"/>
              <a:ea typeface="Calibri"/>
              <a:cs typeface="Calibri"/>
              <a:sym typeface="Calibri"/>
            </a:endParaRPr>
          </a:p>
        </p:txBody>
      </p:sp>
      <p:sp>
        <p:nvSpPr>
          <p:cNvPr id="159" name="Google Shape;159;p4"/>
          <p:cNvSpPr/>
          <p:nvPr/>
        </p:nvSpPr>
        <p:spPr>
          <a:xfrm>
            <a:off x="3319260" y="4156203"/>
            <a:ext cx="1206900" cy="2700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94A3B8"/>
              </a:buClr>
              <a:buSzPts val="800"/>
              <a:buFont typeface="Calibri"/>
              <a:buNone/>
            </a:pPr>
            <a:r>
              <a:rPr b="0" i="0" lang="en-US" sz="800" u="none" cap="none" strike="noStrike">
                <a:solidFill>
                  <a:srgbClr val="94A3B8"/>
                </a:solidFill>
                <a:latin typeface="Calibri"/>
                <a:ea typeface="Calibri"/>
                <a:cs typeface="Calibri"/>
                <a:sym typeface="Calibri"/>
              </a:rPr>
              <a:t>Unbiased model</a:t>
            </a:r>
            <a:endParaRPr b="0" i="0" sz="800" u="none" cap="none" strike="noStrike">
              <a:solidFill>
                <a:schemeClr val="dk1"/>
              </a:solidFill>
              <a:latin typeface="Calibri"/>
              <a:ea typeface="Calibri"/>
              <a:cs typeface="Calibri"/>
              <a:sym typeface="Calibri"/>
            </a:endParaRPr>
          </a:p>
        </p:txBody>
      </p:sp>
      <p:sp>
        <p:nvSpPr>
          <p:cNvPr id="160" name="Google Shape;160;p4"/>
          <p:cNvSpPr/>
          <p:nvPr/>
        </p:nvSpPr>
        <p:spPr>
          <a:xfrm>
            <a:off x="4736650" y="1639625"/>
            <a:ext cx="4206300" cy="28164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4"/>
          <p:cNvSpPr/>
          <p:nvPr/>
        </p:nvSpPr>
        <p:spPr>
          <a:xfrm>
            <a:off x="4736655" y="4118821"/>
            <a:ext cx="42063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4"/>
          <p:cNvSpPr/>
          <p:nvPr/>
        </p:nvSpPr>
        <p:spPr>
          <a:xfrm>
            <a:off x="4828095" y="4155397"/>
            <a:ext cx="4023300" cy="2742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900"/>
              <a:buFont typeface="Calibri"/>
              <a:buNone/>
            </a:pPr>
            <a:r>
              <a:rPr b="0" i="0" lang="en-US" sz="900" u="none" cap="none" strike="noStrike">
                <a:solidFill>
                  <a:srgbClr val="475569"/>
                </a:solidFill>
                <a:latin typeface="Calibri"/>
                <a:ea typeface="Calibri"/>
                <a:cs typeface="Calibri"/>
                <a:sym typeface="Calibri"/>
              </a:rPr>
              <a:t>Measured vs predicted window RMS vibration. Points cluster tightly along the perfect-prediction line — confirming R²=0.91 with no systematic bias.</a:t>
            </a:r>
            <a:endParaRPr b="0" i="0" sz="900" u="none" cap="none" strike="noStrike">
              <a:solidFill>
                <a:schemeClr val="dk1"/>
              </a:solidFill>
              <a:latin typeface="Calibri"/>
              <a:ea typeface="Calibri"/>
              <a:cs typeface="Calibri"/>
              <a:sym typeface="Calibri"/>
            </a:endParaRPr>
          </a:p>
        </p:txBody>
      </p:sp>
      <p:pic>
        <p:nvPicPr>
          <p:cNvPr id="163" name="Google Shape;163;p4"/>
          <p:cNvPicPr preferRelativeResize="0"/>
          <p:nvPr/>
        </p:nvPicPr>
        <p:blipFill rotWithShape="1">
          <a:blip r:embed="rId3">
            <a:alphaModFix/>
          </a:blip>
          <a:srcRect b="0" l="0" r="0" t="0"/>
          <a:stretch/>
        </p:blipFill>
        <p:spPr>
          <a:xfrm>
            <a:off x="5269500" y="1607725"/>
            <a:ext cx="3140588" cy="24794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 name="Shape 168"/>
        <p:cNvGrpSpPr/>
        <p:nvPr/>
      </p:nvGrpSpPr>
      <p:grpSpPr>
        <a:xfrm>
          <a:off x="0" y="0"/>
          <a:ext cx="0" cy="0"/>
          <a:chOff x="0" y="0"/>
          <a:chExt cx="0" cy="0"/>
        </a:xfrm>
      </p:grpSpPr>
      <p:sp>
        <p:nvSpPr>
          <p:cNvPr id="169" name="Google Shape;169;p5"/>
          <p:cNvSpPr/>
          <p:nvPr/>
        </p:nvSpPr>
        <p:spPr>
          <a:xfrm>
            <a:off x="0" y="0"/>
            <a:ext cx="54864" cy="5143500"/>
          </a:xfrm>
          <a:prstGeom prst="rect">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5"/>
          <p:cNvSpPr/>
          <p:nvPr/>
        </p:nvSpPr>
        <p:spPr>
          <a:xfrm>
            <a:off x="411480" y="256032"/>
            <a:ext cx="73152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C3AED"/>
              </a:buClr>
              <a:buSzPts val="800"/>
              <a:buFont typeface="Calibri"/>
              <a:buNone/>
            </a:pPr>
            <a:r>
              <a:rPr b="1" i="0" lang="en-US" sz="800" u="none" cap="none" strike="noStrike">
                <a:solidFill>
                  <a:srgbClr val="7C3AED"/>
                </a:solidFill>
                <a:latin typeface="Calibri"/>
                <a:ea typeface="Calibri"/>
                <a:cs typeface="Calibri"/>
                <a:sym typeface="Calibri"/>
              </a:rPr>
              <a:t>MEMBER 3  ·  DHURAN MUTHAIAH</a:t>
            </a:r>
            <a:endParaRPr b="0" i="0" sz="800" u="none" cap="none" strike="noStrike">
              <a:solidFill>
                <a:schemeClr val="dk1"/>
              </a:solidFill>
              <a:latin typeface="Calibri"/>
              <a:ea typeface="Calibri"/>
              <a:cs typeface="Calibri"/>
              <a:sym typeface="Calibri"/>
            </a:endParaRPr>
          </a:p>
        </p:txBody>
      </p:sp>
      <p:sp>
        <p:nvSpPr>
          <p:cNvPr id="171" name="Google Shape;171;p5"/>
          <p:cNvSpPr/>
          <p:nvPr/>
        </p:nvSpPr>
        <p:spPr>
          <a:xfrm>
            <a:off x="411480" y="475488"/>
            <a:ext cx="7772400" cy="6583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1E293B"/>
              </a:buClr>
              <a:buSzPts val="2400"/>
              <a:buFont typeface="Georgia"/>
              <a:buNone/>
            </a:pPr>
            <a:r>
              <a:rPr b="1" i="0" lang="en-US" sz="2400" u="none" cap="none" strike="noStrike">
                <a:solidFill>
                  <a:srgbClr val="1E293B"/>
                </a:solidFill>
                <a:latin typeface="Georgia"/>
                <a:ea typeface="Georgia"/>
                <a:cs typeface="Georgia"/>
                <a:sym typeface="Georgia"/>
              </a:rPr>
              <a:t>AI Classification &amp; Decision Logic</a:t>
            </a:r>
            <a:endParaRPr b="0" i="0" sz="2400" u="none" cap="none" strike="noStrike">
              <a:solidFill>
                <a:schemeClr val="dk1"/>
              </a:solidFill>
              <a:latin typeface="Calibri"/>
              <a:ea typeface="Calibri"/>
              <a:cs typeface="Calibri"/>
              <a:sym typeface="Calibri"/>
            </a:endParaRPr>
          </a:p>
        </p:txBody>
      </p:sp>
      <p:sp>
        <p:nvSpPr>
          <p:cNvPr id="172" name="Google Shape;172;p5"/>
          <p:cNvSpPr/>
          <p:nvPr/>
        </p:nvSpPr>
        <p:spPr>
          <a:xfrm>
            <a:off x="411480" y="1188720"/>
            <a:ext cx="8321040" cy="9144"/>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5"/>
          <p:cNvSpPr/>
          <p:nvPr/>
        </p:nvSpPr>
        <p:spPr>
          <a:xfrm>
            <a:off x="7863840" y="256032"/>
            <a:ext cx="86868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900"/>
              <a:buFont typeface="Calibri"/>
              <a:buNone/>
            </a:pPr>
            <a:r>
              <a:rPr b="0" i="0" lang="en-US" sz="900" u="none" cap="none" strike="noStrike">
                <a:solidFill>
                  <a:srgbClr val="94A3B8"/>
                </a:solidFill>
                <a:latin typeface="Calibri"/>
                <a:ea typeface="Calibri"/>
                <a:cs typeface="Calibri"/>
                <a:sym typeface="Calibri"/>
              </a:rPr>
              <a:t>5 / 8</a:t>
            </a:r>
            <a:endParaRPr b="0" i="0" sz="900" u="none" cap="none" strike="noStrike">
              <a:solidFill>
                <a:schemeClr val="dk1"/>
              </a:solidFill>
              <a:latin typeface="Calibri"/>
              <a:ea typeface="Calibri"/>
              <a:cs typeface="Calibri"/>
              <a:sym typeface="Calibri"/>
            </a:endParaRPr>
          </a:p>
        </p:txBody>
      </p:sp>
      <p:sp>
        <p:nvSpPr>
          <p:cNvPr id="174" name="Google Shape;174;p5"/>
          <p:cNvSpPr/>
          <p:nvPr/>
        </p:nvSpPr>
        <p:spPr>
          <a:xfrm>
            <a:off x="505200" y="1700771"/>
            <a:ext cx="54900" cy="54900"/>
          </a:xfrm>
          <a:prstGeom prst="ellipse">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5"/>
          <p:cNvSpPr/>
          <p:nvPr/>
        </p:nvSpPr>
        <p:spPr>
          <a:xfrm>
            <a:off x="621835" y="1554518"/>
            <a:ext cx="3794700" cy="347400"/>
          </a:xfrm>
          <a:prstGeom prst="rect">
            <a:avLst/>
          </a:prstGeom>
          <a:noFill/>
          <a:ln>
            <a:noFill/>
          </a:ln>
        </p:spPr>
        <p:txBody>
          <a:bodyPr anchorCtr="0" anchor="ctr" bIns="0" lIns="0" spcFirstLastPara="1" rIns="0" wrap="square" tIns="0">
            <a:normAutofit/>
          </a:bodyPr>
          <a:lstStyle/>
          <a:p>
            <a:pPr indent="0" lvl="0" marL="0" marR="0" rtl="0" algn="l">
              <a:lnSpc>
                <a:spcPct val="115000"/>
              </a:lnSpc>
              <a:spcBef>
                <a:spcPts val="0"/>
              </a:spcBef>
              <a:spcAft>
                <a:spcPts val="0"/>
              </a:spcAft>
              <a:buClr>
                <a:srgbClr val="475569"/>
              </a:buClr>
              <a:buSzPts val="1100"/>
              <a:buFont typeface="Calibri"/>
              <a:buNone/>
            </a:pPr>
            <a:r>
              <a:rPr b="0" i="0" lang="en-US" sz="1000" u="none" cap="none" strike="noStrike">
                <a:solidFill>
                  <a:srgbClr val="475569"/>
                </a:solidFill>
                <a:latin typeface="Calibri"/>
                <a:ea typeface="Calibri"/>
                <a:cs typeface="Calibri"/>
                <a:sym typeface="Calibri"/>
              </a:rPr>
              <a:t>Random Forest classifier: baseline vs loaded per 1-second window</a:t>
            </a:r>
            <a:endParaRPr b="0" i="0" sz="1000" u="none" cap="none" strike="noStrike">
              <a:solidFill>
                <a:schemeClr val="dk1"/>
              </a:solidFill>
              <a:latin typeface="Calibri"/>
              <a:ea typeface="Calibri"/>
              <a:cs typeface="Calibri"/>
              <a:sym typeface="Calibri"/>
            </a:endParaRPr>
          </a:p>
        </p:txBody>
      </p:sp>
      <p:sp>
        <p:nvSpPr>
          <p:cNvPr id="176" name="Google Shape;176;p5"/>
          <p:cNvSpPr/>
          <p:nvPr/>
        </p:nvSpPr>
        <p:spPr>
          <a:xfrm>
            <a:off x="505200" y="2048243"/>
            <a:ext cx="54900" cy="54900"/>
          </a:xfrm>
          <a:prstGeom prst="ellipse">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5"/>
          <p:cNvSpPr/>
          <p:nvPr/>
        </p:nvSpPr>
        <p:spPr>
          <a:xfrm>
            <a:off x="621835" y="1901990"/>
            <a:ext cx="3794700" cy="347400"/>
          </a:xfrm>
          <a:prstGeom prst="rect">
            <a:avLst/>
          </a:prstGeom>
          <a:noFill/>
          <a:ln>
            <a:noFill/>
          </a:ln>
        </p:spPr>
        <p:txBody>
          <a:bodyPr anchorCtr="0" anchor="ctr" bIns="0" lIns="0" spcFirstLastPara="1" rIns="0" wrap="square" tIns="0">
            <a:normAutofit/>
          </a:bodyPr>
          <a:lstStyle/>
          <a:p>
            <a:pPr indent="0" lvl="0" marL="0" marR="0" rtl="0" algn="l">
              <a:lnSpc>
                <a:spcPct val="115000"/>
              </a:lnSpc>
              <a:spcBef>
                <a:spcPts val="0"/>
              </a:spcBef>
              <a:spcAft>
                <a:spcPts val="0"/>
              </a:spcAft>
              <a:buClr>
                <a:srgbClr val="475569"/>
              </a:buClr>
              <a:buSzPts val="1100"/>
              <a:buFont typeface="Calibri"/>
              <a:buNone/>
            </a:pPr>
            <a:r>
              <a:rPr b="0" i="0" lang="en-US" sz="1000" u="none" cap="none" strike="noStrike">
                <a:solidFill>
                  <a:srgbClr val="475569"/>
                </a:solidFill>
                <a:latin typeface="Calibri"/>
                <a:ea typeface="Calibri"/>
                <a:cs typeface="Calibri"/>
                <a:sym typeface="Calibri"/>
              </a:rPr>
              <a:t>Balanced class weights + 15% probability threshold to catch more baseline windows</a:t>
            </a:r>
            <a:endParaRPr b="0" i="0" sz="1000" u="none" cap="none" strike="noStrike">
              <a:solidFill>
                <a:schemeClr val="dk1"/>
              </a:solidFill>
              <a:latin typeface="Calibri"/>
              <a:ea typeface="Calibri"/>
              <a:cs typeface="Calibri"/>
              <a:sym typeface="Calibri"/>
            </a:endParaRPr>
          </a:p>
        </p:txBody>
      </p:sp>
      <p:sp>
        <p:nvSpPr>
          <p:cNvPr id="178" name="Google Shape;178;p5"/>
          <p:cNvSpPr/>
          <p:nvPr/>
        </p:nvSpPr>
        <p:spPr>
          <a:xfrm>
            <a:off x="505200" y="2395715"/>
            <a:ext cx="54900" cy="54900"/>
          </a:xfrm>
          <a:prstGeom prst="ellipse">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5"/>
          <p:cNvSpPr/>
          <p:nvPr/>
        </p:nvSpPr>
        <p:spPr>
          <a:xfrm>
            <a:off x="621835" y="2249462"/>
            <a:ext cx="3794700" cy="347400"/>
          </a:xfrm>
          <a:prstGeom prst="rect">
            <a:avLst/>
          </a:prstGeom>
          <a:noFill/>
          <a:ln>
            <a:noFill/>
          </a:ln>
        </p:spPr>
        <p:txBody>
          <a:bodyPr anchorCtr="0" anchor="ctr" bIns="0" lIns="0" spcFirstLastPara="1" rIns="0" wrap="square" tIns="0">
            <a:normAutofit/>
          </a:bodyPr>
          <a:lstStyle/>
          <a:p>
            <a:pPr indent="0" lvl="0" marL="0" marR="0" rtl="0" algn="l">
              <a:lnSpc>
                <a:spcPct val="115000"/>
              </a:lnSpc>
              <a:spcBef>
                <a:spcPts val="0"/>
              </a:spcBef>
              <a:spcAft>
                <a:spcPts val="0"/>
              </a:spcAft>
              <a:buClr>
                <a:srgbClr val="475569"/>
              </a:buClr>
              <a:buSzPts val="1100"/>
              <a:buFont typeface="Calibri"/>
              <a:buNone/>
            </a:pPr>
            <a:r>
              <a:rPr b="0" i="0" lang="en-US" sz="1000" u="none" cap="none" strike="noStrike">
                <a:solidFill>
                  <a:srgbClr val="475569"/>
                </a:solidFill>
                <a:latin typeface="Calibri"/>
                <a:ea typeface="Calibri"/>
                <a:cs typeface="Calibri"/>
                <a:sym typeface="Calibri"/>
              </a:rPr>
              <a:t>Fine-grained multi-class classifier for exact condition_name (12 classes)</a:t>
            </a:r>
            <a:endParaRPr b="0" i="0" sz="1000" u="none" cap="none" strike="noStrike">
              <a:solidFill>
                <a:schemeClr val="dk1"/>
              </a:solidFill>
              <a:latin typeface="Calibri"/>
              <a:ea typeface="Calibri"/>
              <a:cs typeface="Calibri"/>
              <a:sym typeface="Calibri"/>
            </a:endParaRPr>
          </a:p>
        </p:txBody>
      </p:sp>
      <p:sp>
        <p:nvSpPr>
          <p:cNvPr id="180" name="Google Shape;180;p5"/>
          <p:cNvSpPr/>
          <p:nvPr/>
        </p:nvSpPr>
        <p:spPr>
          <a:xfrm>
            <a:off x="505200" y="2743187"/>
            <a:ext cx="54900" cy="54900"/>
          </a:xfrm>
          <a:prstGeom prst="ellipse">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5"/>
          <p:cNvSpPr/>
          <p:nvPr/>
        </p:nvSpPr>
        <p:spPr>
          <a:xfrm>
            <a:off x="621835" y="2596934"/>
            <a:ext cx="3794700" cy="347400"/>
          </a:xfrm>
          <a:prstGeom prst="rect">
            <a:avLst/>
          </a:prstGeom>
          <a:noFill/>
          <a:ln>
            <a:noFill/>
          </a:ln>
        </p:spPr>
        <p:txBody>
          <a:bodyPr anchorCtr="0" anchor="ctr" bIns="0" lIns="0" spcFirstLastPara="1" rIns="0" wrap="square" tIns="0">
            <a:normAutofit/>
          </a:bodyPr>
          <a:lstStyle/>
          <a:p>
            <a:pPr indent="0" lvl="0" marL="0" marR="0" rtl="0" algn="l">
              <a:lnSpc>
                <a:spcPct val="115000"/>
              </a:lnSpc>
              <a:spcBef>
                <a:spcPts val="0"/>
              </a:spcBef>
              <a:spcAft>
                <a:spcPts val="0"/>
              </a:spcAft>
              <a:buClr>
                <a:srgbClr val="475569"/>
              </a:buClr>
              <a:buSzPts val="1100"/>
              <a:buFont typeface="Calibri"/>
              <a:buNone/>
            </a:pPr>
            <a:r>
              <a:rPr b="0" i="0" lang="en-US" sz="1000" u="none" cap="none" strike="noStrike">
                <a:solidFill>
                  <a:srgbClr val="475569"/>
                </a:solidFill>
                <a:latin typeface="Calibri"/>
                <a:ea typeface="Calibri"/>
                <a:cs typeface="Calibri"/>
                <a:sym typeface="Calibri"/>
              </a:rPr>
              <a:t>Warning threshold = 95th pct of baseline residuals = 0.01625</a:t>
            </a:r>
            <a:endParaRPr b="0" i="0" sz="1000" u="none" cap="none" strike="noStrike">
              <a:solidFill>
                <a:schemeClr val="dk1"/>
              </a:solidFill>
              <a:latin typeface="Calibri"/>
              <a:ea typeface="Calibri"/>
              <a:cs typeface="Calibri"/>
              <a:sym typeface="Calibri"/>
            </a:endParaRPr>
          </a:p>
        </p:txBody>
      </p:sp>
      <p:sp>
        <p:nvSpPr>
          <p:cNvPr id="182" name="Google Shape;182;p5"/>
          <p:cNvSpPr/>
          <p:nvPr/>
        </p:nvSpPr>
        <p:spPr>
          <a:xfrm>
            <a:off x="505200" y="3090659"/>
            <a:ext cx="54900" cy="54900"/>
          </a:xfrm>
          <a:prstGeom prst="ellipse">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5"/>
          <p:cNvSpPr/>
          <p:nvPr/>
        </p:nvSpPr>
        <p:spPr>
          <a:xfrm>
            <a:off x="621835" y="2944406"/>
            <a:ext cx="3794700" cy="347400"/>
          </a:xfrm>
          <a:prstGeom prst="rect">
            <a:avLst/>
          </a:prstGeom>
          <a:noFill/>
          <a:ln>
            <a:noFill/>
          </a:ln>
        </p:spPr>
        <p:txBody>
          <a:bodyPr anchorCtr="0" anchor="ctr" bIns="0" lIns="0" spcFirstLastPara="1" rIns="0" wrap="square" tIns="0">
            <a:normAutofit/>
          </a:bodyPr>
          <a:lstStyle/>
          <a:p>
            <a:pPr indent="0" lvl="0" marL="0" marR="0" rtl="0" algn="l">
              <a:lnSpc>
                <a:spcPct val="115000"/>
              </a:lnSpc>
              <a:spcBef>
                <a:spcPts val="0"/>
              </a:spcBef>
              <a:spcAft>
                <a:spcPts val="0"/>
              </a:spcAft>
              <a:buClr>
                <a:srgbClr val="475569"/>
              </a:buClr>
              <a:buSzPts val="1100"/>
              <a:buFont typeface="Calibri"/>
              <a:buNone/>
            </a:pPr>
            <a:r>
              <a:rPr b="0" i="0" lang="en-US" sz="1000" u="none" cap="none" strike="noStrike">
                <a:solidFill>
                  <a:srgbClr val="475569"/>
                </a:solidFill>
                <a:latin typeface="Calibri"/>
                <a:ea typeface="Calibri"/>
                <a:cs typeface="Calibri"/>
                <a:sym typeface="Calibri"/>
              </a:rPr>
              <a:t>Critical threshold = 99th pct of baseline residuals = 0.03024</a:t>
            </a:r>
            <a:endParaRPr b="0" i="0" sz="1000" u="none" cap="none" strike="noStrike">
              <a:solidFill>
                <a:schemeClr val="dk1"/>
              </a:solidFill>
              <a:latin typeface="Calibri"/>
              <a:ea typeface="Calibri"/>
              <a:cs typeface="Calibri"/>
              <a:sym typeface="Calibri"/>
            </a:endParaRPr>
          </a:p>
        </p:txBody>
      </p:sp>
      <p:sp>
        <p:nvSpPr>
          <p:cNvPr id="184" name="Google Shape;184;p5"/>
          <p:cNvSpPr/>
          <p:nvPr/>
        </p:nvSpPr>
        <p:spPr>
          <a:xfrm>
            <a:off x="411480" y="3383280"/>
            <a:ext cx="39777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00"/>
              <a:buFont typeface="Calibri"/>
              <a:buNone/>
            </a:pPr>
            <a:r>
              <a:rPr b="1" i="0" lang="en-US" sz="800" u="none" cap="none" strike="noStrike">
                <a:solidFill>
                  <a:srgbClr val="94A3B8"/>
                </a:solidFill>
                <a:latin typeface="Calibri"/>
                <a:ea typeface="Calibri"/>
                <a:cs typeface="Calibri"/>
                <a:sym typeface="Calibri"/>
              </a:rPr>
              <a:t>DECISION LOGIC PER WINDOW</a:t>
            </a:r>
            <a:endParaRPr b="0" i="0" sz="800" u="none" cap="none" strike="noStrike">
              <a:solidFill>
                <a:schemeClr val="dk1"/>
              </a:solidFill>
              <a:latin typeface="Calibri"/>
              <a:ea typeface="Calibri"/>
              <a:cs typeface="Calibri"/>
              <a:sym typeface="Calibri"/>
            </a:endParaRPr>
          </a:p>
        </p:txBody>
      </p:sp>
      <p:sp>
        <p:nvSpPr>
          <p:cNvPr id="185" name="Google Shape;185;p5"/>
          <p:cNvSpPr/>
          <p:nvPr/>
        </p:nvSpPr>
        <p:spPr>
          <a:xfrm>
            <a:off x="411480" y="3611880"/>
            <a:ext cx="3977640" cy="228600"/>
          </a:xfrm>
          <a:prstGeom prst="rect">
            <a:avLst/>
          </a:prstGeom>
          <a:solidFill>
            <a:srgbClr val="FEF2F2"/>
          </a:solidFill>
          <a:ln cap="flat" cmpd="sng" w="12700">
            <a:solidFill>
              <a:srgbClr val="FEF2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5"/>
          <p:cNvSpPr/>
          <p:nvPr/>
        </p:nvSpPr>
        <p:spPr>
          <a:xfrm>
            <a:off x="484632" y="3648456"/>
            <a:ext cx="2651760" cy="164592"/>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475569"/>
              </a:buClr>
              <a:buSzPts val="900"/>
              <a:buFont typeface="Calibri"/>
              <a:buNone/>
            </a:pPr>
            <a:r>
              <a:rPr b="0" i="0" lang="en-US" sz="900" u="none" cap="none" strike="noStrike">
                <a:solidFill>
                  <a:srgbClr val="475569"/>
                </a:solidFill>
                <a:latin typeface="Calibri"/>
                <a:ea typeface="Calibri"/>
                <a:cs typeface="Calibri"/>
                <a:sym typeface="Calibri"/>
              </a:rPr>
              <a:t>abs_residual &gt; 0.030  →</a:t>
            </a:r>
            <a:endParaRPr b="0" i="0" sz="900" u="none" cap="none" strike="noStrike">
              <a:solidFill>
                <a:schemeClr val="dk1"/>
              </a:solidFill>
              <a:latin typeface="Calibri"/>
              <a:ea typeface="Calibri"/>
              <a:cs typeface="Calibri"/>
              <a:sym typeface="Calibri"/>
            </a:endParaRPr>
          </a:p>
        </p:txBody>
      </p:sp>
      <p:sp>
        <p:nvSpPr>
          <p:cNvPr id="187" name="Google Shape;187;p5"/>
          <p:cNvSpPr/>
          <p:nvPr/>
        </p:nvSpPr>
        <p:spPr>
          <a:xfrm>
            <a:off x="3154680" y="3648456"/>
            <a:ext cx="1152144" cy="155448"/>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5"/>
          <p:cNvSpPr/>
          <p:nvPr/>
        </p:nvSpPr>
        <p:spPr>
          <a:xfrm>
            <a:off x="3154680" y="3648456"/>
            <a:ext cx="1152144" cy="1554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STOP</a:t>
            </a:r>
            <a:endParaRPr b="0" i="0" sz="800" u="none" cap="none" strike="noStrike">
              <a:solidFill>
                <a:schemeClr val="dk1"/>
              </a:solidFill>
              <a:latin typeface="Calibri"/>
              <a:ea typeface="Calibri"/>
              <a:cs typeface="Calibri"/>
              <a:sym typeface="Calibri"/>
            </a:endParaRPr>
          </a:p>
        </p:txBody>
      </p:sp>
      <p:sp>
        <p:nvSpPr>
          <p:cNvPr id="189" name="Google Shape;189;p5"/>
          <p:cNvSpPr/>
          <p:nvPr/>
        </p:nvSpPr>
        <p:spPr>
          <a:xfrm>
            <a:off x="411480" y="3858768"/>
            <a:ext cx="3977640" cy="228600"/>
          </a:xfrm>
          <a:prstGeom prst="rect">
            <a:avLst/>
          </a:prstGeom>
          <a:solidFill>
            <a:srgbClr val="FFFBEB"/>
          </a:solidFill>
          <a:ln cap="flat" cmpd="sng" w="12700">
            <a:solidFill>
              <a:srgbClr val="FFFB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5"/>
          <p:cNvSpPr/>
          <p:nvPr/>
        </p:nvSpPr>
        <p:spPr>
          <a:xfrm>
            <a:off x="484632" y="3895344"/>
            <a:ext cx="2651760" cy="164592"/>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475569"/>
              </a:buClr>
              <a:buSzPts val="900"/>
              <a:buFont typeface="Calibri"/>
              <a:buNone/>
            </a:pPr>
            <a:r>
              <a:rPr b="0" i="0" lang="en-US" sz="900" u="none" cap="none" strike="noStrike">
                <a:solidFill>
                  <a:srgbClr val="475569"/>
                </a:solidFill>
                <a:latin typeface="Calibri"/>
                <a:ea typeface="Calibri"/>
                <a:cs typeface="Calibri"/>
                <a:sym typeface="Calibri"/>
              </a:rPr>
              <a:t>abs_residual &gt; warning  +  predicted = loaded  →</a:t>
            </a:r>
            <a:endParaRPr b="0" i="0" sz="900" u="none" cap="none" strike="noStrike">
              <a:solidFill>
                <a:schemeClr val="dk1"/>
              </a:solidFill>
              <a:latin typeface="Calibri"/>
              <a:ea typeface="Calibri"/>
              <a:cs typeface="Calibri"/>
              <a:sym typeface="Calibri"/>
            </a:endParaRPr>
          </a:p>
        </p:txBody>
      </p:sp>
      <p:sp>
        <p:nvSpPr>
          <p:cNvPr id="191" name="Google Shape;191;p5"/>
          <p:cNvSpPr/>
          <p:nvPr/>
        </p:nvSpPr>
        <p:spPr>
          <a:xfrm>
            <a:off x="3154680" y="3895344"/>
            <a:ext cx="1152144" cy="155448"/>
          </a:xfrm>
          <a:prstGeom prst="rect">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5"/>
          <p:cNvSpPr/>
          <p:nvPr/>
        </p:nvSpPr>
        <p:spPr>
          <a:xfrm>
            <a:off x="3154680" y="3895344"/>
            <a:ext cx="1152144" cy="1554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ADJUST SPEED</a:t>
            </a:r>
            <a:endParaRPr b="0" i="0" sz="800" u="none" cap="none" strike="noStrike">
              <a:solidFill>
                <a:schemeClr val="dk1"/>
              </a:solidFill>
              <a:latin typeface="Calibri"/>
              <a:ea typeface="Calibri"/>
              <a:cs typeface="Calibri"/>
              <a:sym typeface="Calibri"/>
            </a:endParaRPr>
          </a:p>
        </p:txBody>
      </p:sp>
      <p:sp>
        <p:nvSpPr>
          <p:cNvPr id="193" name="Google Shape;193;p5"/>
          <p:cNvSpPr/>
          <p:nvPr/>
        </p:nvSpPr>
        <p:spPr>
          <a:xfrm>
            <a:off x="411480" y="4105656"/>
            <a:ext cx="3977640" cy="228600"/>
          </a:xfrm>
          <a:prstGeom prst="rect">
            <a:avLst/>
          </a:prstGeom>
          <a:solidFill>
            <a:srgbClr val="FEF2F2"/>
          </a:solidFill>
          <a:ln cap="flat" cmpd="sng" w="12700">
            <a:solidFill>
              <a:srgbClr val="FEF2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5"/>
          <p:cNvSpPr/>
          <p:nvPr/>
        </p:nvSpPr>
        <p:spPr>
          <a:xfrm>
            <a:off x="484632" y="4142232"/>
            <a:ext cx="2651760" cy="164592"/>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475569"/>
              </a:buClr>
              <a:buSzPts val="900"/>
              <a:buFont typeface="Calibri"/>
              <a:buNone/>
            </a:pPr>
            <a:r>
              <a:rPr b="0" i="0" lang="en-US" sz="900" u="none" cap="none" strike="noStrike">
                <a:solidFill>
                  <a:srgbClr val="475569"/>
                </a:solidFill>
                <a:latin typeface="Calibri"/>
                <a:ea typeface="Calibri"/>
                <a:cs typeface="Calibri"/>
                <a:sym typeface="Calibri"/>
              </a:rPr>
              <a:t>abs_residual &gt; warning  +  predicted = baseline  →</a:t>
            </a:r>
            <a:endParaRPr b="0" i="0" sz="900" u="none" cap="none" strike="noStrike">
              <a:solidFill>
                <a:schemeClr val="dk1"/>
              </a:solidFill>
              <a:latin typeface="Calibri"/>
              <a:ea typeface="Calibri"/>
              <a:cs typeface="Calibri"/>
              <a:sym typeface="Calibri"/>
            </a:endParaRPr>
          </a:p>
        </p:txBody>
      </p:sp>
      <p:sp>
        <p:nvSpPr>
          <p:cNvPr id="195" name="Google Shape;195;p5"/>
          <p:cNvSpPr/>
          <p:nvPr/>
        </p:nvSpPr>
        <p:spPr>
          <a:xfrm>
            <a:off x="3154680" y="4142232"/>
            <a:ext cx="1152144" cy="155448"/>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5"/>
          <p:cNvSpPr/>
          <p:nvPr/>
        </p:nvSpPr>
        <p:spPr>
          <a:xfrm>
            <a:off x="3154680" y="4142232"/>
            <a:ext cx="1152144" cy="1554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STOP</a:t>
            </a:r>
            <a:endParaRPr b="0" i="0" sz="800" u="none" cap="none" strike="noStrike">
              <a:solidFill>
                <a:schemeClr val="dk1"/>
              </a:solidFill>
              <a:latin typeface="Calibri"/>
              <a:ea typeface="Calibri"/>
              <a:cs typeface="Calibri"/>
              <a:sym typeface="Calibri"/>
            </a:endParaRPr>
          </a:p>
        </p:txBody>
      </p:sp>
      <p:sp>
        <p:nvSpPr>
          <p:cNvPr id="197" name="Google Shape;197;p5"/>
          <p:cNvSpPr/>
          <p:nvPr/>
        </p:nvSpPr>
        <p:spPr>
          <a:xfrm>
            <a:off x="411480" y="4352544"/>
            <a:ext cx="3977640" cy="228600"/>
          </a:xfrm>
          <a:prstGeom prst="rect">
            <a:avLst/>
          </a:prstGeom>
          <a:solidFill>
            <a:srgbClr val="F0FDF4"/>
          </a:solidFill>
          <a:ln cap="flat" cmpd="sng" w="12700">
            <a:solidFill>
              <a:srgbClr val="F0FD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5"/>
          <p:cNvSpPr/>
          <p:nvPr/>
        </p:nvSpPr>
        <p:spPr>
          <a:xfrm>
            <a:off x="484632" y="4389120"/>
            <a:ext cx="2651760" cy="164592"/>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475569"/>
              </a:buClr>
              <a:buSzPts val="900"/>
              <a:buFont typeface="Calibri"/>
              <a:buNone/>
            </a:pPr>
            <a:r>
              <a:rPr b="0" i="0" lang="en-US" sz="900" u="none" cap="none" strike="noStrike">
                <a:solidFill>
                  <a:srgbClr val="475569"/>
                </a:solidFill>
                <a:latin typeface="Calibri"/>
                <a:ea typeface="Calibri"/>
                <a:cs typeface="Calibri"/>
                <a:sym typeface="Calibri"/>
              </a:rPr>
              <a:t>else  →</a:t>
            </a:r>
            <a:endParaRPr b="0" i="0" sz="900" u="none" cap="none" strike="noStrike">
              <a:solidFill>
                <a:schemeClr val="dk1"/>
              </a:solidFill>
              <a:latin typeface="Calibri"/>
              <a:ea typeface="Calibri"/>
              <a:cs typeface="Calibri"/>
              <a:sym typeface="Calibri"/>
            </a:endParaRPr>
          </a:p>
        </p:txBody>
      </p:sp>
      <p:sp>
        <p:nvSpPr>
          <p:cNvPr id="199" name="Google Shape;199;p5"/>
          <p:cNvSpPr/>
          <p:nvPr/>
        </p:nvSpPr>
        <p:spPr>
          <a:xfrm>
            <a:off x="3154680" y="4389120"/>
            <a:ext cx="1152144" cy="155448"/>
          </a:xfrm>
          <a:prstGeom prst="rect">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5"/>
          <p:cNvSpPr/>
          <p:nvPr/>
        </p:nvSpPr>
        <p:spPr>
          <a:xfrm>
            <a:off x="3154680" y="4389120"/>
            <a:ext cx="1152144" cy="1554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CONTINUE</a:t>
            </a:r>
            <a:endParaRPr b="0" i="0" sz="800" u="none" cap="none" strike="noStrike">
              <a:solidFill>
                <a:schemeClr val="dk1"/>
              </a:solidFill>
              <a:latin typeface="Calibri"/>
              <a:ea typeface="Calibri"/>
              <a:cs typeface="Calibri"/>
              <a:sym typeface="Calibri"/>
            </a:endParaRPr>
          </a:p>
        </p:txBody>
      </p:sp>
      <p:sp>
        <p:nvSpPr>
          <p:cNvPr id="201" name="Google Shape;201;p5"/>
          <p:cNvSpPr/>
          <p:nvPr/>
        </p:nvSpPr>
        <p:spPr>
          <a:xfrm>
            <a:off x="4575550" y="1673350"/>
            <a:ext cx="4206300" cy="28071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img3.png" id="202" name="Google Shape;202;p5"/>
          <p:cNvPicPr preferRelativeResize="0"/>
          <p:nvPr/>
        </p:nvPicPr>
        <p:blipFill rotWithShape="1">
          <a:blip r:embed="rId3">
            <a:alphaModFix/>
          </a:blip>
          <a:srcRect b="0" l="0" r="0" t="0"/>
          <a:stretch/>
        </p:blipFill>
        <p:spPr>
          <a:xfrm>
            <a:off x="4689825" y="1824110"/>
            <a:ext cx="3977699" cy="2071241"/>
          </a:xfrm>
          <a:prstGeom prst="rect">
            <a:avLst/>
          </a:prstGeom>
          <a:noFill/>
          <a:ln>
            <a:noFill/>
          </a:ln>
        </p:spPr>
      </p:pic>
      <p:sp>
        <p:nvSpPr>
          <p:cNvPr id="203" name="Google Shape;203;p5"/>
          <p:cNvSpPr/>
          <p:nvPr/>
        </p:nvSpPr>
        <p:spPr>
          <a:xfrm>
            <a:off x="4575580" y="4041346"/>
            <a:ext cx="42063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5"/>
          <p:cNvSpPr/>
          <p:nvPr/>
        </p:nvSpPr>
        <p:spPr>
          <a:xfrm>
            <a:off x="4667020" y="4077922"/>
            <a:ext cx="4023300" cy="2742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900"/>
              <a:buFont typeface="Calibri"/>
              <a:buNone/>
            </a:pPr>
            <a:r>
              <a:rPr b="0" i="0" lang="en-US" sz="900" u="none" cap="none" strike="noStrike">
                <a:solidFill>
                  <a:srgbClr val="475569"/>
                </a:solidFill>
                <a:latin typeface="Calibri"/>
                <a:ea typeface="Calibri"/>
                <a:cs typeface="Calibri"/>
                <a:sym typeface="Calibri"/>
              </a:rPr>
              <a:t>Top 10 features driving AI classification. g_rms and g_diff_mean dominate, followed by abs_residual.</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 name="Shape 209"/>
        <p:cNvGrpSpPr/>
        <p:nvPr/>
      </p:nvGrpSpPr>
      <p:grpSpPr>
        <a:xfrm>
          <a:off x="0" y="0"/>
          <a:ext cx="0" cy="0"/>
          <a:chOff x="0" y="0"/>
          <a:chExt cx="0" cy="0"/>
        </a:xfrm>
      </p:grpSpPr>
      <p:sp>
        <p:nvSpPr>
          <p:cNvPr id="210" name="Google Shape;210;p6"/>
          <p:cNvSpPr/>
          <p:nvPr/>
        </p:nvSpPr>
        <p:spPr>
          <a:xfrm>
            <a:off x="0" y="0"/>
            <a:ext cx="54864" cy="5143500"/>
          </a:xfrm>
          <a:prstGeom prst="rect">
            <a:avLst/>
          </a:prstGeom>
          <a:solidFill>
            <a:srgbClr val="EA580C"/>
          </a:solidFill>
          <a:ln cap="flat" cmpd="sng" w="12700">
            <a:solidFill>
              <a:srgbClr val="EA580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6"/>
          <p:cNvSpPr/>
          <p:nvPr/>
        </p:nvSpPr>
        <p:spPr>
          <a:xfrm>
            <a:off x="411480" y="256032"/>
            <a:ext cx="73152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A580C"/>
              </a:buClr>
              <a:buSzPts val="800"/>
              <a:buFont typeface="Calibri"/>
              <a:buNone/>
            </a:pPr>
            <a:r>
              <a:rPr b="1" i="0" lang="en-US" sz="800" u="none" cap="none" strike="noStrike">
                <a:solidFill>
                  <a:srgbClr val="EA580C"/>
                </a:solidFill>
                <a:latin typeface="Calibri"/>
                <a:ea typeface="Calibri"/>
                <a:cs typeface="Calibri"/>
                <a:sym typeface="Calibri"/>
              </a:rPr>
              <a:t>MEMBER 4  ·  SAERA PARK</a:t>
            </a:r>
            <a:endParaRPr b="0" i="0" sz="800" u="none" cap="none" strike="noStrike">
              <a:solidFill>
                <a:schemeClr val="dk1"/>
              </a:solidFill>
              <a:latin typeface="Calibri"/>
              <a:ea typeface="Calibri"/>
              <a:cs typeface="Calibri"/>
              <a:sym typeface="Calibri"/>
            </a:endParaRPr>
          </a:p>
        </p:txBody>
      </p:sp>
      <p:sp>
        <p:nvSpPr>
          <p:cNvPr id="212" name="Google Shape;212;p6"/>
          <p:cNvSpPr/>
          <p:nvPr/>
        </p:nvSpPr>
        <p:spPr>
          <a:xfrm>
            <a:off x="411480" y="475488"/>
            <a:ext cx="7772400" cy="6583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1E293B"/>
              </a:buClr>
              <a:buSzPts val="2400"/>
              <a:buFont typeface="Georgia"/>
              <a:buNone/>
            </a:pPr>
            <a:r>
              <a:rPr b="1" i="0" lang="en-US" sz="2400" u="none" cap="none" strike="noStrike">
                <a:solidFill>
                  <a:srgbClr val="1E293B"/>
                </a:solidFill>
                <a:latin typeface="Georgia"/>
                <a:ea typeface="Georgia"/>
                <a:cs typeface="Georgia"/>
                <a:sym typeface="Georgia"/>
              </a:rPr>
              <a:t>Evaluation Findings</a:t>
            </a:r>
            <a:endParaRPr b="0" i="0" sz="2400" u="none" cap="none" strike="noStrike">
              <a:solidFill>
                <a:schemeClr val="dk1"/>
              </a:solidFill>
              <a:latin typeface="Calibri"/>
              <a:ea typeface="Calibri"/>
              <a:cs typeface="Calibri"/>
              <a:sym typeface="Calibri"/>
            </a:endParaRPr>
          </a:p>
        </p:txBody>
      </p:sp>
      <p:sp>
        <p:nvSpPr>
          <p:cNvPr id="213" name="Google Shape;213;p6"/>
          <p:cNvSpPr/>
          <p:nvPr/>
        </p:nvSpPr>
        <p:spPr>
          <a:xfrm>
            <a:off x="411480" y="1188720"/>
            <a:ext cx="8321040" cy="9144"/>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6"/>
          <p:cNvSpPr/>
          <p:nvPr/>
        </p:nvSpPr>
        <p:spPr>
          <a:xfrm>
            <a:off x="7863840" y="256032"/>
            <a:ext cx="86868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900"/>
              <a:buFont typeface="Calibri"/>
              <a:buNone/>
            </a:pPr>
            <a:r>
              <a:rPr b="0" i="0" lang="en-US" sz="900" u="none" cap="none" strike="noStrike">
                <a:solidFill>
                  <a:srgbClr val="94A3B8"/>
                </a:solidFill>
                <a:latin typeface="Calibri"/>
                <a:ea typeface="Calibri"/>
                <a:cs typeface="Calibri"/>
                <a:sym typeface="Calibri"/>
              </a:rPr>
              <a:t>6 / 8</a:t>
            </a:r>
            <a:endParaRPr b="0" i="0" sz="900" u="none" cap="none" strike="noStrike">
              <a:solidFill>
                <a:schemeClr val="dk1"/>
              </a:solidFill>
              <a:latin typeface="Calibri"/>
              <a:ea typeface="Calibri"/>
              <a:cs typeface="Calibri"/>
              <a:sym typeface="Calibri"/>
            </a:endParaRPr>
          </a:p>
        </p:txBody>
      </p:sp>
      <p:sp>
        <p:nvSpPr>
          <p:cNvPr id="215" name="Google Shape;215;p6"/>
          <p:cNvSpPr/>
          <p:nvPr/>
        </p:nvSpPr>
        <p:spPr>
          <a:xfrm>
            <a:off x="411475" y="1456103"/>
            <a:ext cx="4692600" cy="1125300"/>
          </a:xfrm>
          <a:prstGeom prst="rect">
            <a:avLst/>
          </a:prstGeom>
          <a:solidFill>
            <a:srgbClr val="F0FDF4"/>
          </a:solidFill>
          <a:ln cap="flat" cmpd="sng" w="12700">
            <a:solidFill>
              <a:srgbClr val="F0FD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6"/>
          <p:cNvSpPr/>
          <p:nvPr/>
        </p:nvSpPr>
        <p:spPr>
          <a:xfrm>
            <a:off x="411478" y="1456100"/>
            <a:ext cx="45600" cy="1125300"/>
          </a:xfrm>
          <a:prstGeom prst="rect">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6"/>
          <p:cNvSpPr/>
          <p:nvPr/>
        </p:nvSpPr>
        <p:spPr>
          <a:xfrm>
            <a:off x="521208" y="1547538"/>
            <a:ext cx="274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Calibri"/>
              <a:buNone/>
            </a:pPr>
            <a:r>
              <a:t/>
            </a:r>
            <a:endParaRPr b="0" i="0" sz="1600" u="none" cap="none" strike="noStrike">
              <a:solidFill>
                <a:schemeClr val="dk1"/>
              </a:solidFill>
              <a:latin typeface="Calibri"/>
              <a:ea typeface="Calibri"/>
              <a:cs typeface="Calibri"/>
              <a:sym typeface="Calibri"/>
            </a:endParaRPr>
          </a:p>
        </p:txBody>
      </p:sp>
      <p:sp>
        <p:nvSpPr>
          <p:cNvPr id="218" name="Google Shape;218;p6"/>
          <p:cNvSpPr/>
          <p:nvPr/>
        </p:nvSpPr>
        <p:spPr>
          <a:xfrm>
            <a:off x="648684" y="1529252"/>
            <a:ext cx="4403700" cy="2742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1E293B"/>
              </a:buClr>
              <a:buSzPts val="1300"/>
              <a:buFont typeface="Georgia"/>
              <a:buNone/>
            </a:pPr>
            <a:r>
              <a:rPr b="1" i="0" lang="en-US" sz="1300" u="none" cap="none" strike="noStrike">
                <a:solidFill>
                  <a:srgbClr val="1E293B"/>
                </a:solidFill>
                <a:latin typeface="Georgia"/>
                <a:ea typeface="Georgia"/>
                <a:cs typeface="Georgia"/>
                <a:sym typeface="Georgia"/>
              </a:rPr>
              <a:t>Finding 1 — Digital Twin Prediction is Excellent</a:t>
            </a:r>
            <a:endParaRPr b="0" i="0" sz="1300" u="none" cap="none" strike="noStrike">
              <a:solidFill>
                <a:schemeClr val="dk1"/>
              </a:solidFill>
              <a:latin typeface="Calibri"/>
              <a:ea typeface="Calibri"/>
              <a:cs typeface="Calibri"/>
              <a:sym typeface="Calibri"/>
            </a:endParaRPr>
          </a:p>
        </p:txBody>
      </p:sp>
      <p:sp>
        <p:nvSpPr>
          <p:cNvPr id="219" name="Google Shape;219;p6"/>
          <p:cNvSpPr/>
          <p:nvPr/>
        </p:nvSpPr>
        <p:spPr>
          <a:xfrm>
            <a:off x="648675" y="1803575"/>
            <a:ext cx="4403700" cy="750000"/>
          </a:xfrm>
          <a:prstGeom prst="rect">
            <a:avLst/>
          </a:prstGeom>
          <a:noFill/>
          <a:ln>
            <a:noFill/>
          </a:ln>
        </p:spPr>
        <p:txBody>
          <a:bodyPr anchorCtr="0" anchor="ctr" bIns="0" lIns="0" spcFirstLastPara="1" rIns="0" wrap="square" tIns="0">
            <a:noAutofit/>
          </a:bodyPr>
          <a:lstStyle/>
          <a:p>
            <a:pPr indent="0" lvl="0" marL="0" rtl="0" algn="l">
              <a:lnSpc>
                <a:spcPct val="130000"/>
              </a:lnSpc>
              <a:spcBef>
                <a:spcPts val="0"/>
              </a:spcBef>
              <a:spcAft>
                <a:spcPts val="0"/>
              </a:spcAft>
              <a:buClr>
                <a:schemeClr val="dk1"/>
              </a:buClr>
              <a:buSzPts val="1100"/>
              <a:buFont typeface="Arial"/>
              <a:buNone/>
            </a:pPr>
            <a:r>
              <a:rPr lang="en-US" sz="950">
                <a:solidFill>
                  <a:srgbClr val="166534"/>
                </a:solidFill>
                <a:latin typeface="Calibri"/>
                <a:ea typeface="Calibri"/>
                <a:cs typeface="Calibri"/>
                <a:sym typeface="Calibri"/>
              </a:rPr>
              <a:t>The model predicts expected vibration from operating context alone with exceptional accuracy. Consistent across all 108 runs and both materials — the strongest result in the pipeline.</a:t>
            </a:r>
            <a:endParaRPr sz="1000">
              <a:solidFill>
                <a:srgbClr val="475569"/>
              </a:solidFill>
              <a:latin typeface="Calibri"/>
              <a:ea typeface="Calibri"/>
              <a:cs typeface="Calibri"/>
              <a:sym typeface="Calibri"/>
            </a:endParaRPr>
          </a:p>
        </p:txBody>
      </p:sp>
      <p:sp>
        <p:nvSpPr>
          <p:cNvPr id="220" name="Google Shape;220;p6"/>
          <p:cNvSpPr/>
          <p:nvPr/>
        </p:nvSpPr>
        <p:spPr>
          <a:xfrm>
            <a:off x="411475" y="2679598"/>
            <a:ext cx="4692600" cy="1125300"/>
          </a:xfrm>
          <a:prstGeom prst="rect">
            <a:avLst/>
          </a:prstGeom>
          <a:solidFill>
            <a:srgbClr val="FEF2F2"/>
          </a:solidFill>
          <a:ln cap="flat" cmpd="sng" w="12700">
            <a:solidFill>
              <a:srgbClr val="FEF2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6"/>
          <p:cNvSpPr/>
          <p:nvPr/>
        </p:nvSpPr>
        <p:spPr>
          <a:xfrm>
            <a:off x="411478" y="2679598"/>
            <a:ext cx="45600" cy="1125300"/>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6"/>
          <p:cNvSpPr/>
          <p:nvPr/>
        </p:nvSpPr>
        <p:spPr>
          <a:xfrm>
            <a:off x="521208" y="2771029"/>
            <a:ext cx="274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Calibri"/>
              <a:buNone/>
            </a:pPr>
            <a:r>
              <a:t/>
            </a:r>
            <a:endParaRPr b="0" i="0" sz="1600" u="none" cap="none" strike="noStrike">
              <a:solidFill>
                <a:schemeClr val="dk1"/>
              </a:solidFill>
              <a:latin typeface="Calibri"/>
              <a:ea typeface="Calibri"/>
              <a:cs typeface="Calibri"/>
              <a:sym typeface="Calibri"/>
            </a:endParaRPr>
          </a:p>
        </p:txBody>
      </p:sp>
      <p:sp>
        <p:nvSpPr>
          <p:cNvPr id="223" name="Google Shape;223;p6"/>
          <p:cNvSpPr/>
          <p:nvPr/>
        </p:nvSpPr>
        <p:spPr>
          <a:xfrm>
            <a:off x="648684" y="2752741"/>
            <a:ext cx="4403700" cy="2742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1E293B"/>
              </a:buClr>
              <a:buSzPts val="1300"/>
              <a:buFont typeface="Georgia"/>
              <a:buNone/>
            </a:pPr>
            <a:r>
              <a:rPr b="1" i="0" lang="en-US" sz="1300" u="none" cap="none" strike="noStrike">
                <a:solidFill>
                  <a:srgbClr val="1E293B"/>
                </a:solidFill>
                <a:latin typeface="Georgia"/>
                <a:ea typeface="Georgia"/>
                <a:cs typeface="Georgia"/>
                <a:sym typeface="Georgia"/>
              </a:rPr>
              <a:t>Finding 2 — Residuals Cannot Detect Anomalies</a:t>
            </a:r>
            <a:endParaRPr b="0" i="0" sz="1300" u="none" cap="none" strike="noStrike">
              <a:solidFill>
                <a:schemeClr val="dk1"/>
              </a:solidFill>
              <a:latin typeface="Calibri"/>
              <a:ea typeface="Calibri"/>
              <a:cs typeface="Calibri"/>
              <a:sym typeface="Calibri"/>
            </a:endParaRPr>
          </a:p>
        </p:txBody>
      </p:sp>
      <p:sp>
        <p:nvSpPr>
          <p:cNvPr id="224" name="Google Shape;224;p6"/>
          <p:cNvSpPr/>
          <p:nvPr/>
        </p:nvSpPr>
        <p:spPr>
          <a:xfrm>
            <a:off x="648675" y="3106325"/>
            <a:ext cx="4403700" cy="658500"/>
          </a:xfrm>
          <a:prstGeom prst="rect">
            <a:avLst/>
          </a:prstGeom>
          <a:noFill/>
          <a:ln>
            <a:noFill/>
          </a:ln>
        </p:spPr>
        <p:txBody>
          <a:bodyPr anchorCtr="0" anchor="t" bIns="0" lIns="0" spcFirstLastPara="1" rIns="0" wrap="square" tIns="0">
            <a:normAutofit/>
          </a:bodyPr>
          <a:lstStyle/>
          <a:p>
            <a:pPr indent="0" lvl="0" marL="0" rtl="0" algn="l">
              <a:lnSpc>
                <a:spcPct val="130000"/>
              </a:lnSpc>
              <a:spcBef>
                <a:spcPts val="0"/>
              </a:spcBef>
              <a:spcAft>
                <a:spcPts val="0"/>
              </a:spcAft>
              <a:buClr>
                <a:schemeClr val="dk1"/>
              </a:buClr>
              <a:buSzPts val="1100"/>
              <a:buFont typeface="Arial"/>
              <a:buNone/>
            </a:pPr>
            <a:r>
              <a:rPr lang="en-US" sz="950">
                <a:solidFill>
                  <a:srgbClr val="991B1B"/>
                </a:solidFill>
                <a:latin typeface="Calibri"/>
                <a:ea typeface="Calibri"/>
                <a:cs typeface="Calibri"/>
                <a:sym typeface="Calibri"/>
              </a:rPr>
              <a:t>Baseline windows had higher residuals than loaded ones — the opposite of our assumption. The ~80% accuracy is misleading due to 11:1 class imbalance. Balanced accuracy is near-random. </a:t>
            </a:r>
            <a:endParaRPr sz="1000">
              <a:solidFill>
                <a:srgbClr val="475569"/>
              </a:solidFill>
              <a:latin typeface="Calibri"/>
              <a:ea typeface="Calibri"/>
              <a:cs typeface="Calibri"/>
              <a:sym typeface="Calibri"/>
            </a:endParaRPr>
          </a:p>
        </p:txBody>
      </p:sp>
      <p:sp>
        <p:nvSpPr>
          <p:cNvPr id="225" name="Google Shape;225;p6"/>
          <p:cNvSpPr/>
          <p:nvPr/>
        </p:nvSpPr>
        <p:spPr>
          <a:xfrm>
            <a:off x="411477" y="3930927"/>
            <a:ext cx="4692600" cy="960000"/>
          </a:xfrm>
          <a:prstGeom prst="rect">
            <a:avLst/>
          </a:prstGeom>
          <a:solidFill>
            <a:srgbClr val="FFFBEB"/>
          </a:solidFill>
          <a:ln cap="flat" cmpd="sng" w="12700">
            <a:solidFill>
              <a:srgbClr val="FFFB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6"/>
          <p:cNvSpPr/>
          <p:nvPr/>
        </p:nvSpPr>
        <p:spPr>
          <a:xfrm>
            <a:off x="411480" y="3930930"/>
            <a:ext cx="45600" cy="960000"/>
          </a:xfrm>
          <a:prstGeom prst="rect">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6"/>
          <p:cNvSpPr/>
          <p:nvPr/>
        </p:nvSpPr>
        <p:spPr>
          <a:xfrm>
            <a:off x="521208" y="4022370"/>
            <a:ext cx="274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Calibri"/>
              <a:buNone/>
            </a:pPr>
            <a:r>
              <a:t/>
            </a:r>
            <a:endParaRPr b="0" i="0" sz="1600" u="none" cap="none" strike="noStrike">
              <a:solidFill>
                <a:schemeClr val="dk1"/>
              </a:solidFill>
              <a:latin typeface="Calibri"/>
              <a:ea typeface="Calibri"/>
              <a:cs typeface="Calibri"/>
              <a:sym typeface="Calibri"/>
            </a:endParaRPr>
          </a:p>
        </p:txBody>
      </p:sp>
      <p:sp>
        <p:nvSpPr>
          <p:cNvPr id="228" name="Google Shape;228;p6"/>
          <p:cNvSpPr/>
          <p:nvPr/>
        </p:nvSpPr>
        <p:spPr>
          <a:xfrm>
            <a:off x="648684" y="4004079"/>
            <a:ext cx="4403700" cy="2742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1E293B"/>
              </a:buClr>
              <a:buSzPts val="1300"/>
              <a:buFont typeface="Georgia"/>
              <a:buNone/>
            </a:pPr>
            <a:r>
              <a:rPr b="1" i="0" lang="en-US" sz="1300" u="none" cap="none" strike="noStrike">
                <a:solidFill>
                  <a:srgbClr val="1E293B"/>
                </a:solidFill>
                <a:latin typeface="Georgia"/>
                <a:ea typeface="Georgia"/>
                <a:cs typeface="Georgia"/>
                <a:sym typeface="Georgia"/>
              </a:rPr>
              <a:t>Finding 3 — Speed Detectable, Placement Not</a:t>
            </a:r>
            <a:endParaRPr b="0" i="0" sz="1300" u="none" cap="none" strike="noStrike">
              <a:solidFill>
                <a:schemeClr val="dk1"/>
              </a:solidFill>
              <a:latin typeface="Calibri"/>
              <a:ea typeface="Calibri"/>
              <a:cs typeface="Calibri"/>
              <a:sym typeface="Calibri"/>
            </a:endParaRPr>
          </a:p>
        </p:txBody>
      </p:sp>
      <p:sp>
        <p:nvSpPr>
          <p:cNvPr id="229" name="Google Shape;229;p6"/>
          <p:cNvSpPr/>
          <p:nvPr/>
        </p:nvSpPr>
        <p:spPr>
          <a:xfrm>
            <a:off x="648675" y="4296575"/>
            <a:ext cx="4403700" cy="658500"/>
          </a:xfrm>
          <a:prstGeom prst="rect">
            <a:avLst/>
          </a:prstGeom>
          <a:noFill/>
          <a:ln>
            <a:noFill/>
          </a:ln>
        </p:spPr>
        <p:txBody>
          <a:bodyPr anchorCtr="0" anchor="ctr" bIns="0" lIns="0" spcFirstLastPara="1" rIns="0" wrap="square" tIns="0">
            <a:noAutofit/>
          </a:bodyPr>
          <a:lstStyle/>
          <a:p>
            <a:pPr indent="0" lvl="0" marL="0" rtl="0" algn="l">
              <a:lnSpc>
                <a:spcPct val="130000"/>
              </a:lnSpc>
              <a:spcBef>
                <a:spcPts val="0"/>
              </a:spcBef>
              <a:spcAft>
                <a:spcPts val="0"/>
              </a:spcAft>
              <a:buClr>
                <a:schemeClr val="dk1"/>
              </a:buClr>
              <a:buSzPts val="1100"/>
              <a:buFont typeface="Arial"/>
              <a:buNone/>
            </a:pPr>
            <a:r>
              <a:rPr lang="en-US" sz="950">
                <a:solidFill>
                  <a:srgbClr val="92400E"/>
                </a:solidFill>
                <a:latin typeface="Calibri"/>
                <a:ea typeface="Calibri"/>
                <a:cs typeface="Calibri"/>
                <a:sym typeface="Calibri"/>
              </a:rPr>
              <a:t>Changing speed alters vibration frequency, clearly captured. Moving a weight between locations barely changes vibration at the sensor level. Physical sensor limitation.</a:t>
            </a:r>
            <a:endParaRPr sz="950">
              <a:solidFill>
                <a:srgbClr val="92400E"/>
              </a:solidFill>
              <a:latin typeface="Calibri"/>
              <a:ea typeface="Calibri"/>
              <a:cs typeface="Calibri"/>
              <a:sym typeface="Calibri"/>
            </a:endParaRPr>
          </a:p>
          <a:p>
            <a:pPr indent="0" lvl="0" marL="0" marR="0" rtl="0" algn="l">
              <a:lnSpc>
                <a:spcPct val="130000"/>
              </a:lnSpc>
              <a:spcBef>
                <a:spcPts val="0"/>
              </a:spcBef>
              <a:spcAft>
                <a:spcPts val="0"/>
              </a:spcAft>
              <a:buClr>
                <a:srgbClr val="475569"/>
              </a:buClr>
              <a:buSzPts val="1000"/>
              <a:buFont typeface="Calibri"/>
              <a:buNone/>
            </a:pPr>
            <a:r>
              <a:t/>
            </a:r>
            <a:endParaRPr sz="1000">
              <a:solidFill>
                <a:srgbClr val="475569"/>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4" name="Shape 234"/>
        <p:cNvGrpSpPr/>
        <p:nvPr/>
      </p:nvGrpSpPr>
      <p:grpSpPr>
        <a:xfrm>
          <a:off x="0" y="0"/>
          <a:ext cx="0" cy="0"/>
          <a:chOff x="0" y="0"/>
          <a:chExt cx="0" cy="0"/>
        </a:xfrm>
      </p:grpSpPr>
      <p:sp>
        <p:nvSpPr>
          <p:cNvPr id="235" name="Google Shape;235;p7"/>
          <p:cNvSpPr/>
          <p:nvPr/>
        </p:nvSpPr>
        <p:spPr>
          <a:xfrm>
            <a:off x="0" y="0"/>
            <a:ext cx="54864" cy="5143500"/>
          </a:xfrm>
          <a:prstGeom prst="rect">
            <a:avLst/>
          </a:prstGeom>
          <a:solidFill>
            <a:srgbClr val="EA580C"/>
          </a:solidFill>
          <a:ln cap="flat" cmpd="sng" w="12700">
            <a:solidFill>
              <a:srgbClr val="EA580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7"/>
          <p:cNvSpPr/>
          <p:nvPr/>
        </p:nvSpPr>
        <p:spPr>
          <a:xfrm>
            <a:off x="411480" y="256032"/>
            <a:ext cx="73152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A580C"/>
              </a:buClr>
              <a:buSzPts val="800"/>
              <a:buFont typeface="Calibri"/>
              <a:buNone/>
            </a:pPr>
            <a:r>
              <a:rPr b="1" i="0" lang="en-US" sz="800" u="none" cap="none" strike="noStrike">
                <a:solidFill>
                  <a:srgbClr val="EA580C"/>
                </a:solidFill>
                <a:latin typeface="Calibri"/>
                <a:ea typeface="Calibri"/>
                <a:cs typeface="Calibri"/>
                <a:sym typeface="Calibri"/>
              </a:rPr>
              <a:t>MEMBER 4  ·  SAERA PARK  —  EVIDENCE</a:t>
            </a:r>
            <a:endParaRPr b="0" i="0" sz="800" u="none" cap="none" strike="noStrike">
              <a:solidFill>
                <a:schemeClr val="dk1"/>
              </a:solidFill>
              <a:latin typeface="Calibri"/>
              <a:ea typeface="Calibri"/>
              <a:cs typeface="Calibri"/>
              <a:sym typeface="Calibri"/>
            </a:endParaRPr>
          </a:p>
        </p:txBody>
      </p:sp>
      <p:sp>
        <p:nvSpPr>
          <p:cNvPr id="237" name="Google Shape;237;p7"/>
          <p:cNvSpPr/>
          <p:nvPr/>
        </p:nvSpPr>
        <p:spPr>
          <a:xfrm>
            <a:off x="411480" y="475488"/>
            <a:ext cx="7772400" cy="6583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1E293B"/>
              </a:buClr>
              <a:buSzPts val="2400"/>
              <a:buFont typeface="Georgia"/>
              <a:buNone/>
            </a:pPr>
            <a:r>
              <a:rPr b="1" i="0" lang="en-US" sz="2400" u="none" cap="none" strike="noStrike">
                <a:solidFill>
                  <a:srgbClr val="1E293B"/>
                </a:solidFill>
                <a:latin typeface="Georgia"/>
                <a:ea typeface="Georgia"/>
                <a:cs typeface="Georgia"/>
                <a:sym typeface="Georgia"/>
              </a:rPr>
              <a:t>The Evidence Behind the Findings</a:t>
            </a:r>
            <a:endParaRPr b="0" i="0" sz="2400" u="none" cap="none" strike="noStrike">
              <a:solidFill>
                <a:schemeClr val="dk1"/>
              </a:solidFill>
              <a:latin typeface="Calibri"/>
              <a:ea typeface="Calibri"/>
              <a:cs typeface="Calibri"/>
              <a:sym typeface="Calibri"/>
            </a:endParaRPr>
          </a:p>
        </p:txBody>
      </p:sp>
      <p:sp>
        <p:nvSpPr>
          <p:cNvPr id="238" name="Google Shape;238;p7"/>
          <p:cNvSpPr/>
          <p:nvPr/>
        </p:nvSpPr>
        <p:spPr>
          <a:xfrm>
            <a:off x="411480" y="1188720"/>
            <a:ext cx="8321040" cy="9144"/>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7"/>
          <p:cNvSpPr/>
          <p:nvPr/>
        </p:nvSpPr>
        <p:spPr>
          <a:xfrm>
            <a:off x="7863840" y="256032"/>
            <a:ext cx="86868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900"/>
              <a:buFont typeface="Calibri"/>
              <a:buNone/>
            </a:pPr>
            <a:r>
              <a:rPr b="0" i="0" lang="en-US" sz="900" u="none" cap="none" strike="noStrike">
                <a:solidFill>
                  <a:srgbClr val="94A3B8"/>
                </a:solidFill>
                <a:latin typeface="Calibri"/>
                <a:ea typeface="Calibri"/>
                <a:cs typeface="Calibri"/>
                <a:sym typeface="Calibri"/>
              </a:rPr>
              <a:t>7 / 8</a:t>
            </a:r>
            <a:endParaRPr b="0" i="0" sz="900" u="none" cap="none" strike="noStrike">
              <a:solidFill>
                <a:schemeClr val="dk1"/>
              </a:solidFill>
              <a:latin typeface="Calibri"/>
              <a:ea typeface="Calibri"/>
              <a:cs typeface="Calibri"/>
              <a:sym typeface="Calibri"/>
            </a:endParaRPr>
          </a:p>
        </p:txBody>
      </p:sp>
      <p:sp>
        <p:nvSpPr>
          <p:cNvPr id="240" name="Google Shape;240;p7"/>
          <p:cNvSpPr/>
          <p:nvPr/>
        </p:nvSpPr>
        <p:spPr>
          <a:xfrm>
            <a:off x="411480" y="1298448"/>
            <a:ext cx="41148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C2626"/>
              </a:buClr>
              <a:buSzPts val="800"/>
              <a:buFont typeface="Calibri"/>
              <a:buNone/>
            </a:pPr>
            <a:r>
              <a:rPr b="1" i="0" lang="en-US" sz="800" u="none" cap="none" strike="noStrike">
                <a:solidFill>
                  <a:srgbClr val="DC2626"/>
                </a:solidFill>
                <a:latin typeface="Calibri"/>
                <a:ea typeface="Calibri"/>
                <a:cs typeface="Calibri"/>
                <a:sym typeface="Calibri"/>
              </a:rPr>
              <a:t>FINDING 2 — RESIDUAL SIGNAL</a:t>
            </a:r>
            <a:endParaRPr b="0" i="0" sz="800" u="none" cap="none" strike="noStrike">
              <a:solidFill>
                <a:schemeClr val="dk1"/>
              </a:solidFill>
              <a:latin typeface="Calibri"/>
              <a:ea typeface="Calibri"/>
              <a:cs typeface="Calibri"/>
              <a:sym typeface="Calibri"/>
            </a:endParaRPr>
          </a:p>
        </p:txBody>
      </p:sp>
      <p:sp>
        <p:nvSpPr>
          <p:cNvPr id="241" name="Google Shape;241;p7"/>
          <p:cNvSpPr/>
          <p:nvPr/>
        </p:nvSpPr>
        <p:spPr>
          <a:xfrm>
            <a:off x="411480" y="1481328"/>
            <a:ext cx="4114800" cy="12802"/>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7"/>
          <p:cNvSpPr/>
          <p:nvPr/>
        </p:nvSpPr>
        <p:spPr>
          <a:xfrm>
            <a:off x="411475" y="1499625"/>
            <a:ext cx="4114800" cy="25998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7"/>
          <p:cNvSpPr/>
          <p:nvPr/>
        </p:nvSpPr>
        <p:spPr>
          <a:xfrm>
            <a:off x="411480" y="3743535"/>
            <a:ext cx="41148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7"/>
          <p:cNvSpPr/>
          <p:nvPr/>
        </p:nvSpPr>
        <p:spPr>
          <a:xfrm>
            <a:off x="502920" y="3780111"/>
            <a:ext cx="3931800" cy="2742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900"/>
              <a:buFont typeface="Calibri"/>
              <a:buNone/>
            </a:pPr>
            <a:r>
              <a:rPr b="0" i="0" lang="en-US" sz="900" u="none" cap="none" strike="noStrike">
                <a:solidFill>
                  <a:srgbClr val="475569"/>
                </a:solidFill>
                <a:latin typeface="Calibri"/>
                <a:ea typeface="Calibri"/>
                <a:cs typeface="Calibri"/>
                <a:sym typeface="Calibri"/>
              </a:rPr>
              <a:t>Sorted high→low. Baseline sits 2nd — noisier than most loaded conditions. All conditions well below warning threshold.</a:t>
            </a:r>
            <a:endParaRPr b="0" i="0" sz="900" u="none" cap="none" strike="noStrike">
              <a:solidFill>
                <a:schemeClr val="dk1"/>
              </a:solidFill>
              <a:latin typeface="Calibri"/>
              <a:ea typeface="Calibri"/>
              <a:cs typeface="Calibri"/>
              <a:sym typeface="Calibri"/>
            </a:endParaRPr>
          </a:p>
        </p:txBody>
      </p:sp>
      <p:sp>
        <p:nvSpPr>
          <p:cNvPr id="245" name="Google Shape;245;p7"/>
          <p:cNvSpPr/>
          <p:nvPr/>
        </p:nvSpPr>
        <p:spPr>
          <a:xfrm>
            <a:off x="411480" y="4160533"/>
            <a:ext cx="4114800" cy="475500"/>
          </a:xfrm>
          <a:prstGeom prst="rect">
            <a:avLst/>
          </a:prstGeom>
          <a:solidFill>
            <a:srgbClr val="FEF2F2"/>
          </a:solidFill>
          <a:ln cap="flat" cmpd="sng" w="12700">
            <a:solidFill>
              <a:srgbClr val="FEF2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7"/>
          <p:cNvSpPr/>
          <p:nvPr/>
        </p:nvSpPr>
        <p:spPr>
          <a:xfrm>
            <a:off x="502920" y="4215397"/>
            <a:ext cx="3931800" cy="3657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DC2626"/>
              </a:buClr>
              <a:buSzPts val="950"/>
              <a:buFont typeface="Calibri"/>
              <a:buNone/>
            </a:pPr>
            <a:r>
              <a:rPr b="0" i="0" lang="en-US" sz="950" u="none" cap="none" strike="noStrike">
                <a:solidFill>
                  <a:srgbClr val="DC2626"/>
                </a:solidFill>
                <a:latin typeface="Calibri"/>
                <a:ea typeface="Calibri"/>
                <a:cs typeface="Calibri"/>
                <a:sym typeface="Calibri"/>
              </a:rPr>
              <a:t>Baseline mean = 0.00558  ·  Loaded mean = 0.00469  ·  Mann-Whitney p = 9.71e-01  ·  False alarm rate = 5.1%  ·  Critical residuals → STOP = 100%</a:t>
            </a:r>
            <a:endParaRPr b="0" i="0" sz="950" u="none" cap="none" strike="noStrike">
              <a:solidFill>
                <a:schemeClr val="dk1"/>
              </a:solidFill>
              <a:latin typeface="Calibri"/>
              <a:ea typeface="Calibri"/>
              <a:cs typeface="Calibri"/>
              <a:sym typeface="Calibri"/>
            </a:endParaRPr>
          </a:p>
        </p:txBody>
      </p:sp>
      <p:sp>
        <p:nvSpPr>
          <p:cNvPr id="247" name="Google Shape;247;p7"/>
          <p:cNvSpPr/>
          <p:nvPr/>
        </p:nvSpPr>
        <p:spPr>
          <a:xfrm>
            <a:off x="4645152" y="1298448"/>
            <a:ext cx="408736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97706"/>
              </a:buClr>
              <a:buSzPts val="800"/>
              <a:buFont typeface="Calibri"/>
              <a:buNone/>
            </a:pPr>
            <a:r>
              <a:rPr b="1" i="0" lang="en-US" sz="800" u="none" cap="none" strike="noStrike">
                <a:solidFill>
                  <a:srgbClr val="D97706"/>
                </a:solidFill>
                <a:latin typeface="Calibri"/>
                <a:ea typeface="Calibri"/>
                <a:cs typeface="Calibri"/>
                <a:sym typeface="Calibri"/>
              </a:rPr>
              <a:t>FINDING 3 — CLASSIFICATION LIMITS</a:t>
            </a:r>
            <a:endParaRPr b="0" i="0" sz="800" u="none" cap="none" strike="noStrike">
              <a:solidFill>
                <a:schemeClr val="dk1"/>
              </a:solidFill>
              <a:latin typeface="Calibri"/>
              <a:ea typeface="Calibri"/>
              <a:cs typeface="Calibri"/>
              <a:sym typeface="Calibri"/>
            </a:endParaRPr>
          </a:p>
        </p:txBody>
      </p:sp>
      <p:sp>
        <p:nvSpPr>
          <p:cNvPr id="248" name="Google Shape;248;p7"/>
          <p:cNvSpPr/>
          <p:nvPr/>
        </p:nvSpPr>
        <p:spPr>
          <a:xfrm>
            <a:off x="4645152" y="1481328"/>
            <a:ext cx="4087368" cy="12802"/>
          </a:xfrm>
          <a:prstGeom prst="rect">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7"/>
          <p:cNvSpPr/>
          <p:nvPr/>
        </p:nvSpPr>
        <p:spPr>
          <a:xfrm>
            <a:off x="4645150" y="1499626"/>
            <a:ext cx="4087500" cy="25998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7"/>
          <p:cNvSpPr/>
          <p:nvPr/>
        </p:nvSpPr>
        <p:spPr>
          <a:xfrm>
            <a:off x="4645214" y="3743562"/>
            <a:ext cx="40875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7"/>
          <p:cNvSpPr/>
          <p:nvPr/>
        </p:nvSpPr>
        <p:spPr>
          <a:xfrm>
            <a:off x="4736655" y="3780138"/>
            <a:ext cx="3904500" cy="2742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900"/>
              <a:buFont typeface="Calibri"/>
              <a:buNone/>
            </a:pPr>
            <a:r>
              <a:rPr b="0" i="0" lang="en-US" sz="900" u="none" cap="none" strike="noStrike">
                <a:solidFill>
                  <a:srgbClr val="475569"/>
                </a:solidFill>
                <a:latin typeface="Calibri"/>
                <a:ea typeface="Calibri"/>
                <a:cs typeface="Calibri"/>
                <a:sym typeface="Calibri"/>
              </a:rPr>
              <a:t>Speed tests show perfect 1.0 F1 (dark diagonal squares). Location A/B/C rows are diffuse — model is guessing.</a:t>
            </a:r>
            <a:endParaRPr b="0" i="0" sz="900" u="none" cap="none" strike="noStrike">
              <a:solidFill>
                <a:schemeClr val="dk1"/>
              </a:solidFill>
              <a:latin typeface="Calibri"/>
              <a:ea typeface="Calibri"/>
              <a:cs typeface="Calibri"/>
              <a:sym typeface="Calibri"/>
            </a:endParaRPr>
          </a:p>
        </p:txBody>
      </p:sp>
      <p:sp>
        <p:nvSpPr>
          <p:cNvPr id="252" name="Google Shape;252;p7"/>
          <p:cNvSpPr/>
          <p:nvPr/>
        </p:nvSpPr>
        <p:spPr>
          <a:xfrm>
            <a:off x="4645150" y="4160525"/>
            <a:ext cx="4087500" cy="475500"/>
          </a:xfrm>
          <a:prstGeom prst="rect">
            <a:avLst/>
          </a:prstGeom>
          <a:solidFill>
            <a:srgbClr val="FFFBEB"/>
          </a:solidFill>
          <a:ln cap="flat" cmpd="sng" w="12700">
            <a:solidFill>
              <a:srgbClr val="FFFB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7"/>
          <p:cNvSpPr/>
          <p:nvPr/>
        </p:nvSpPr>
        <p:spPr>
          <a:xfrm>
            <a:off x="4736592" y="4261093"/>
            <a:ext cx="3904500" cy="292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D97706"/>
              </a:buClr>
              <a:buSzPts val="950"/>
              <a:buFont typeface="Calibri"/>
              <a:buNone/>
            </a:pPr>
            <a:r>
              <a:rPr b="0" i="0" lang="en-US" sz="950" u="none" cap="none" strike="noStrike">
                <a:solidFill>
                  <a:srgbClr val="D97706"/>
                </a:solidFill>
                <a:latin typeface="Calibri"/>
                <a:ea typeface="Calibri"/>
                <a:cs typeface="Calibri"/>
                <a:sym typeface="Calibri"/>
              </a:rPr>
              <a:t>Speed tests: 100% F1  ·  Location A/B/C: 7–19% F1  ·  Multi-class accuracy: 40.6%  ·  Binary accuracy: 79.7% (misleading)  ·  Balanced accuracy: 55.2%  ·  MCC: 0.077  ·  Baseline recall: 25.7%  ·  Loaded recall: 84.6%</a:t>
            </a:r>
            <a:endParaRPr b="0" i="0" sz="950" u="none" cap="none" strike="noStrike">
              <a:solidFill>
                <a:schemeClr val="dk1"/>
              </a:solidFill>
              <a:latin typeface="Calibri"/>
              <a:ea typeface="Calibri"/>
              <a:cs typeface="Calibri"/>
              <a:sym typeface="Calibri"/>
            </a:endParaRPr>
          </a:p>
        </p:txBody>
      </p:sp>
      <p:pic>
        <p:nvPicPr>
          <p:cNvPr id="254" name="Google Shape;254;p7"/>
          <p:cNvPicPr preferRelativeResize="0"/>
          <p:nvPr/>
        </p:nvPicPr>
        <p:blipFill rotWithShape="1">
          <a:blip r:embed="rId3">
            <a:alphaModFix/>
          </a:blip>
          <a:srcRect b="0" l="0" r="46228" t="0"/>
          <a:stretch/>
        </p:blipFill>
        <p:spPr>
          <a:xfrm>
            <a:off x="913886" y="1525375"/>
            <a:ext cx="3109885" cy="2186900"/>
          </a:xfrm>
          <a:prstGeom prst="rect">
            <a:avLst/>
          </a:prstGeom>
          <a:noFill/>
          <a:ln>
            <a:noFill/>
          </a:ln>
        </p:spPr>
      </p:pic>
      <p:pic>
        <p:nvPicPr>
          <p:cNvPr id="255" name="Google Shape;255;p7"/>
          <p:cNvPicPr preferRelativeResize="0"/>
          <p:nvPr/>
        </p:nvPicPr>
        <p:blipFill>
          <a:blip r:embed="rId4">
            <a:alphaModFix/>
          </a:blip>
          <a:stretch>
            <a:fillRect/>
          </a:stretch>
        </p:blipFill>
        <p:spPr>
          <a:xfrm>
            <a:off x="5417275" y="1525375"/>
            <a:ext cx="2543126" cy="21869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0" name="Shape 260"/>
        <p:cNvGrpSpPr/>
        <p:nvPr/>
      </p:nvGrpSpPr>
      <p:grpSpPr>
        <a:xfrm>
          <a:off x="0" y="0"/>
          <a:ext cx="0" cy="0"/>
          <a:chOff x="0" y="0"/>
          <a:chExt cx="0" cy="0"/>
        </a:xfrm>
      </p:grpSpPr>
      <p:sp>
        <p:nvSpPr>
          <p:cNvPr id="261" name="Google Shape;261;p8"/>
          <p:cNvSpPr/>
          <p:nvPr/>
        </p:nvSpPr>
        <p:spPr>
          <a:xfrm>
            <a:off x="0" y="0"/>
            <a:ext cx="54900" cy="5143500"/>
          </a:xfrm>
          <a:prstGeom prst="rect">
            <a:avLst/>
          </a:prstGeom>
          <a:solidFill>
            <a:srgbClr val="1E293B"/>
          </a:solidFill>
          <a:ln cap="flat" cmpd="sng" w="12700">
            <a:solidFill>
              <a:srgbClr val="1E29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8"/>
          <p:cNvSpPr/>
          <p:nvPr/>
        </p:nvSpPr>
        <p:spPr>
          <a:xfrm>
            <a:off x="411480" y="256032"/>
            <a:ext cx="73152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00"/>
              <a:buFont typeface="Calibri"/>
              <a:buNone/>
            </a:pPr>
            <a:r>
              <a:rPr b="1" i="0" lang="en-US" sz="800" u="none" cap="none" strike="noStrike">
                <a:solidFill>
                  <a:srgbClr val="94A3B8"/>
                </a:solidFill>
                <a:latin typeface="Calibri"/>
                <a:ea typeface="Calibri"/>
                <a:cs typeface="Calibri"/>
                <a:sym typeface="Calibri"/>
              </a:rPr>
              <a:t>SUMMARY</a:t>
            </a:r>
            <a:endParaRPr b="0" i="0" sz="800" u="none" cap="none" strike="noStrike">
              <a:solidFill>
                <a:schemeClr val="dk1"/>
              </a:solidFill>
              <a:latin typeface="Calibri"/>
              <a:ea typeface="Calibri"/>
              <a:cs typeface="Calibri"/>
              <a:sym typeface="Calibri"/>
            </a:endParaRPr>
          </a:p>
        </p:txBody>
      </p:sp>
      <p:sp>
        <p:nvSpPr>
          <p:cNvPr id="263" name="Google Shape;263;p8"/>
          <p:cNvSpPr/>
          <p:nvPr/>
        </p:nvSpPr>
        <p:spPr>
          <a:xfrm>
            <a:off x="411480" y="475488"/>
            <a:ext cx="7772400" cy="658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1E293B"/>
              </a:buClr>
              <a:buSzPts val="2400"/>
              <a:buFont typeface="Georgia"/>
              <a:buNone/>
            </a:pPr>
            <a:r>
              <a:rPr b="1" i="0" lang="en-US" sz="2400" u="none" cap="none" strike="noStrike">
                <a:solidFill>
                  <a:srgbClr val="1E293B"/>
                </a:solidFill>
                <a:latin typeface="Georgia"/>
                <a:ea typeface="Georgia"/>
                <a:cs typeface="Georgia"/>
                <a:sym typeface="Georgia"/>
              </a:rPr>
              <a:t>Recommendations</a:t>
            </a:r>
            <a:endParaRPr b="0" i="0" sz="2400" u="none" cap="none" strike="noStrike">
              <a:solidFill>
                <a:schemeClr val="dk1"/>
              </a:solidFill>
              <a:latin typeface="Calibri"/>
              <a:ea typeface="Calibri"/>
              <a:cs typeface="Calibri"/>
              <a:sym typeface="Calibri"/>
            </a:endParaRPr>
          </a:p>
        </p:txBody>
      </p:sp>
      <p:sp>
        <p:nvSpPr>
          <p:cNvPr id="264" name="Google Shape;264;p8"/>
          <p:cNvSpPr/>
          <p:nvPr/>
        </p:nvSpPr>
        <p:spPr>
          <a:xfrm>
            <a:off x="411480" y="1188720"/>
            <a:ext cx="83211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8"/>
          <p:cNvSpPr/>
          <p:nvPr/>
        </p:nvSpPr>
        <p:spPr>
          <a:xfrm>
            <a:off x="7863840" y="256032"/>
            <a:ext cx="868800" cy="2013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900"/>
              <a:buFont typeface="Calibri"/>
              <a:buNone/>
            </a:pPr>
            <a:r>
              <a:rPr b="0" i="0" lang="en-US" sz="900" u="none" cap="none" strike="noStrike">
                <a:solidFill>
                  <a:srgbClr val="94A3B8"/>
                </a:solidFill>
                <a:latin typeface="Calibri"/>
                <a:ea typeface="Calibri"/>
                <a:cs typeface="Calibri"/>
                <a:sym typeface="Calibri"/>
              </a:rPr>
              <a:t>8 / 8</a:t>
            </a:r>
            <a:endParaRPr b="0" i="0" sz="900" u="none" cap="none" strike="noStrike">
              <a:solidFill>
                <a:schemeClr val="dk1"/>
              </a:solidFill>
              <a:latin typeface="Calibri"/>
              <a:ea typeface="Calibri"/>
              <a:cs typeface="Calibri"/>
              <a:sym typeface="Calibri"/>
            </a:endParaRPr>
          </a:p>
        </p:txBody>
      </p:sp>
      <p:grpSp>
        <p:nvGrpSpPr>
          <p:cNvPr id="266" name="Google Shape;266;p8"/>
          <p:cNvGrpSpPr/>
          <p:nvPr/>
        </p:nvGrpSpPr>
        <p:grpSpPr>
          <a:xfrm>
            <a:off x="411480" y="1381125"/>
            <a:ext cx="8321100" cy="809700"/>
            <a:chOff x="411480" y="1381125"/>
            <a:chExt cx="8321100" cy="809700"/>
          </a:xfrm>
        </p:grpSpPr>
        <p:sp>
          <p:nvSpPr>
            <p:cNvPr id="267" name="Google Shape;267;p8"/>
            <p:cNvSpPr/>
            <p:nvPr/>
          </p:nvSpPr>
          <p:spPr>
            <a:xfrm>
              <a:off x="411480" y="1381125"/>
              <a:ext cx="8321100" cy="809700"/>
            </a:xfrm>
            <a:prstGeom prst="roundRect">
              <a:avLst>
                <a:gd fmla="val 4705"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8" name="Google Shape;268;p8"/>
            <p:cNvSpPr txBox="1"/>
            <p:nvPr/>
          </p:nvSpPr>
          <p:spPr>
            <a:xfrm>
              <a:off x="601980" y="1381125"/>
              <a:ext cx="7940100" cy="8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1E293B"/>
                  </a:solidFill>
                  <a:latin typeface="Georgia"/>
                  <a:ea typeface="Georgia"/>
                  <a:cs typeface="Georgia"/>
                  <a:sym typeface="Georgia"/>
                </a:rPr>
                <a:t>Key Takeaway</a:t>
              </a:r>
              <a:endParaRPr b="1" sz="1400">
                <a:solidFill>
                  <a:srgbClr val="1E293B"/>
                </a:solidFill>
                <a:latin typeface="Georgia"/>
                <a:ea typeface="Georgia"/>
                <a:cs typeface="Georgia"/>
                <a:sym typeface="Georgia"/>
              </a:endParaRPr>
            </a:p>
            <a:p>
              <a:pPr indent="0" lvl="0" marL="0" rtl="0" algn="l">
                <a:spcBef>
                  <a:spcPts val="600"/>
                </a:spcBef>
                <a:spcAft>
                  <a:spcPts val="0"/>
                </a:spcAft>
                <a:buNone/>
              </a:pPr>
              <a:r>
                <a:rPr lang="en-US" sz="1150">
                  <a:solidFill>
                    <a:srgbClr val="475569"/>
                  </a:solidFill>
                  <a:latin typeface="Calibri"/>
                  <a:ea typeface="Calibri"/>
                  <a:cs typeface="Calibri"/>
                  <a:sym typeface="Calibri"/>
                </a:rPr>
                <a:t>T</a:t>
              </a:r>
              <a:r>
                <a:rPr lang="en-US" sz="1150">
                  <a:solidFill>
                    <a:srgbClr val="475569"/>
                  </a:solidFill>
                  <a:latin typeface="Calibri"/>
                  <a:ea typeface="Calibri"/>
                  <a:cs typeface="Calibri"/>
                  <a:sym typeface="Calibri"/>
                </a:rPr>
                <a:t>wo components worked well, the </a:t>
              </a:r>
              <a:r>
                <a:rPr b="1" lang="en-US" sz="1150">
                  <a:solidFill>
                    <a:srgbClr val="0D9488"/>
                  </a:solidFill>
                  <a:latin typeface="Calibri"/>
                  <a:ea typeface="Calibri"/>
                  <a:cs typeface="Calibri"/>
                  <a:sym typeface="Calibri"/>
                </a:rPr>
                <a:t>digital twin regression</a:t>
              </a:r>
              <a:r>
                <a:rPr lang="en-US" sz="1150">
                  <a:solidFill>
                    <a:srgbClr val="475569"/>
                  </a:solidFill>
                  <a:latin typeface="Calibri"/>
                  <a:ea typeface="Calibri"/>
                  <a:cs typeface="Calibri"/>
                  <a:sym typeface="Calibri"/>
                </a:rPr>
                <a:t> and </a:t>
              </a:r>
              <a:r>
                <a:rPr b="1" lang="en-US" sz="1150">
                  <a:solidFill>
                    <a:srgbClr val="EA580C"/>
                  </a:solidFill>
                  <a:latin typeface="Calibri"/>
                  <a:ea typeface="Calibri"/>
                  <a:cs typeface="Calibri"/>
                  <a:sym typeface="Calibri"/>
                </a:rPr>
                <a:t>speed detection</a:t>
              </a:r>
              <a:r>
                <a:rPr lang="en-US" sz="1150">
                  <a:solidFill>
                    <a:srgbClr val="475569"/>
                  </a:solidFill>
                  <a:latin typeface="Calibri"/>
                  <a:ea typeface="Calibri"/>
                  <a:cs typeface="Calibri"/>
                  <a:sym typeface="Calibri"/>
                </a:rPr>
                <a:t>, both performing excellently. However </a:t>
              </a:r>
              <a:r>
                <a:rPr lang="en-US" sz="1150">
                  <a:solidFill>
                    <a:srgbClr val="DC2626"/>
                  </a:solidFill>
                  <a:latin typeface="Calibri"/>
                  <a:ea typeface="Calibri"/>
                  <a:cs typeface="Calibri"/>
                  <a:sym typeface="Calibri"/>
                </a:rPr>
                <a:t>residual-based anomaly detection</a:t>
              </a:r>
              <a:r>
                <a:rPr lang="en-US" sz="1150">
                  <a:solidFill>
                    <a:srgbClr val="475569"/>
                  </a:solidFill>
                  <a:latin typeface="Calibri"/>
                  <a:ea typeface="Calibri"/>
                  <a:cs typeface="Calibri"/>
                  <a:sym typeface="Calibri"/>
                </a:rPr>
                <a:t> and </a:t>
              </a:r>
              <a:r>
                <a:rPr lang="en-US" sz="1150">
                  <a:solidFill>
                    <a:srgbClr val="DC2626"/>
                  </a:solidFill>
                  <a:latin typeface="Calibri"/>
                  <a:ea typeface="Calibri"/>
                  <a:cs typeface="Calibri"/>
                  <a:sym typeface="Calibri"/>
                </a:rPr>
                <a:t>placement classification </a:t>
              </a:r>
              <a:r>
                <a:rPr lang="en-US" sz="1150">
                  <a:solidFill>
                    <a:srgbClr val="475569"/>
                  </a:solidFill>
                  <a:latin typeface="Calibri"/>
                  <a:ea typeface="Calibri"/>
                  <a:cs typeface="Calibri"/>
                  <a:sym typeface="Calibri"/>
                </a:rPr>
                <a:t>fell short due to an imbalanced dataset.</a:t>
              </a:r>
              <a:endParaRPr sz="1150">
                <a:solidFill>
                  <a:srgbClr val="475569"/>
                </a:solidFill>
                <a:latin typeface="Calibri"/>
                <a:ea typeface="Calibri"/>
                <a:cs typeface="Calibri"/>
                <a:sym typeface="Calibri"/>
              </a:endParaRPr>
            </a:p>
          </p:txBody>
        </p:sp>
      </p:grpSp>
      <p:grpSp>
        <p:nvGrpSpPr>
          <p:cNvPr id="269" name="Google Shape;269;p8"/>
          <p:cNvGrpSpPr/>
          <p:nvPr/>
        </p:nvGrpSpPr>
        <p:grpSpPr>
          <a:xfrm>
            <a:off x="411480" y="2381250"/>
            <a:ext cx="2624100" cy="2000100"/>
            <a:chOff x="411480" y="2381250"/>
            <a:chExt cx="2624100" cy="2000100"/>
          </a:xfrm>
        </p:grpSpPr>
        <p:sp>
          <p:nvSpPr>
            <p:cNvPr id="270" name="Google Shape;270;p8"/>
            <p:cNvSpPr/>
            <p:nvPr/>
          </p:nvSpPr>
          <p:spPr>
            <a:xfrm>
              <a:off x="411480" y="2381250"/>
              <a:ext cx="2624100" cy="2000100"/>
            </a:xfrm>
            <a:prstGeom prst="roundRect">
              <a:avLst>
                <a:gd fmla="val 1904" name="adj"/>
              </a:avLst>
            </a:prstGeom>
            <a:solidFill>
              <a:srgbClr val="EFF6FF"/>
            </a:solidFill>
            <a:ln cap="flat" cmpd="sng" w="9525">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1" name="Google Shape;271;p8"/>
            <p:cNvSpPr/>
            <p:nvPr/>
          </p:nvSpPr>
          <p:spPr>
            <a:xfrm>
              <a:off x="411480" y="2381250"/>
              <a:ext cx="2624100" cy="573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2" name="Google Shape;272;p8"/>
            <p:cNvSpPr txBox="1"/>
            <p:nvPr/>
          </p:nvSpPr>
          <p:spPr>
            <a:xfrm>
              <a:off x="554355" y="2524125"/>
              <a:ext cx="2338500" cy="1762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300">
                  <a:solidFill>
                    <a:srgbClr val="2563EB"/>
                  </a:solidFill>
                  <a:latin typeface="Georgia"/>
                  <a:ea typeface="Georgia"/>
                  <a:cs typeface="Georgia"/>
                  <a:sym typeface="Georgia"/>
                </a:rPr>
                <a:t>Collect More Baseline Data</a:t>
              </a:r>
              <a:endParaRPr b="1" sz="1300">
                <a:solidFill>
                  <a:srgbClr val="2563EB"/>
                </a:solidFill>
                <a:latin typeface="Georgia"/>
                <a:ea typeface="Georgia"/>
                <a:cs typeface="Georgia"/>
                <a:sym typeface="Georgia"/>
              </a:endParaRPr>
            </a:p>
            <a:p>
              <a:pPr indent="0" lvl="0" marL="0" rtl="0" algn="l">
                <a:spcBef>
                  <a:spcPts val="900"/>
                </a:spcBef>
                <a:spcAft>
                  <a:spcPts val="0"/>
                </a:spcAft>
                <a:buNone/>
              </a:pPr>
              <a:r>
                <a:rPr b="1" lang="en-US" sz="1050">
                  <a:solidFill>
                    <a:srgbClr val="1E293B"/>
                  </a:solidFill>
                  <a:latin typeface="Calibri"/>
                  <a:ea typeface="Calibri"/>
                  <a:cs typeface="Calibri"/>
                  <a:sym typeface="Calibri"/>
                </a:rPr>
                <a:t>Problem:</a:t>
              </a:r>
              <a:r>
                <a:rPr lang="en-US" sz="1050">
                  <a:solidFill>
                    <a:srgbClr val="1E293B"/>
                  </a:solidFill>
                  <a:latin typeface="Calibri"/>
                  <a:ea typeface="Calibri"/>
                  <a:cs typeface="Calibri"/>
                  <a:sym typeface="Calibri"/>
                </a:rPr>
                <a:t> 11:1 imbalance (3,889 loaded vs 350 baseline) prevents learning.</a:t>
              </a:r>
              <a:endParaRPr sz="1050">
                <a:solidFill>
                  <a:srgbClr val="1E293B"/>
                </a:solidFill>
                <a:latin typeface="Calibri"/>
                <a:ea typeface="Calibri"/>
                <a:cs typeface="Calibri"/>
                <a:sym typeface="Calibri"/>
              </a:endParaRPr>
            </a:p>
            <a:p>
              <a:pPr indent="0" lvl="0" marL="0" rtl="0" algn="l">
                <a:spcBef>
                  <a:spcPts val="600"/>
                </a:spcBef>
                <a:spcAft>
                  <a:spcPts val="0"/>
                </a:spcAft>
                <a:buNone/>
              </a:pPr>
              <a:r>
                <a:rPr lang="en-US" sz="1000">
                  <a:solidFill>
                    <a:srgbClr val="475569"/>
                  </a:solidFill>
                  <a:latin typeface="Calibri"/>
                  <a:ea typeface="Calibri"/>
                  <a:cs typeface="Calibri"/>
                  <a:sym typeface="Calibri"/>
                </a:rPr>
                <a:t>Current metrics: Recall 25.7%, F1=0.173.</a:t>
              </a:r>
              <a:endParaRPr sz="1000">
                <a:solidFill>
                  <a:srgbClr val="475569"/>
                </a:solidFill>
                <a:latin typeface="Calibri"/>
                <a:ea typeface="Calibri"/>
                <a:cs typeface="Calibri"/>
                <a:sym typeface="Calibri"/>
              </a:endParaRPr>
            </a:p>
            <a:p>
              <a:pPr indent="0" lvl="0" marL="0" rtl="0" algn="l">
                <a:spcBef>
                  <a:spcPts val="600"/>
                </a:spcBef>
                <a:spcAft>
                  <a:spcPts val="0"/>
                </a:spcAft>
                <a:buNone/>
              </a:pPr>
              <a:r>
                <a:rPr b="1" lang="en-US" sz="1050">
                  <a:solidFill>
                    <a:srgbClr val="1E293B"/>
                  </a:solidFill>
                  <a:latin typeface="Calibri"/>
                  <a:ea typeface="Calibri"/>
                  <a:cs typeface="Calibri"/>
                  <a:sym typeface="Calibri"/>
                </a:rPr>
                <a:t>Equal class representation would likely fix binary classification.</a:t>
              </a:r>
              <a:endParaRPr b="1" sz="1050">
                <a:solidFill>
                  <a:srgbClr val="1E293B"/>
                </a:solidFill>
                <a:latin typeface="Calibri"/>
                <a:ea typeface="Calibri"/>
                <a:cs typeface="Calibri"/>
                <a:sym typeface="Calibri"/>
              </a:endParaRPr>
            </a:p>
          </p:txBody>
        </p:sp>
      </p:grpSp>
      <p:grpSp>
        <p:nvGrpSpPr>
          <p:cNvPr id="273" name="Google Shape;273;p8"/>
          <p:cNvGrpSpPr/>
          <p:nvPr/>
        </p:nvGrpSpPr>
        <p:grpSpPr>
          <a:xfrm>
            <a:off x="3259455" y="2381250"/>
            <a:ext cx="2624100" cy="2000100"/>
            <a:chOff x="3259455" y="2381250"/>
            <a:chExt cx="2624100" cy="2000100"/>
          </a:xfrm>
        </p:grpSpPr>
        <p:sp>
          <p:nvSpPr>
            <p:cNvPr id="274" name="Google Shape;274;p8"/>
            <p:cNvSpPr/>
            <p:nvPr/>
          </p:nvSpPr>
          <p:spPr>
            <a:xfrm>
              <a:off x="3259455" y="2381250"/>
              <a:ext cx="2624100" cy="2000100"/>
            </a:xfrm>
            <a:prstGeom prst="roundRect">
              <a:avLst>
                <a:gd fmla="val 1904" name="adj"/>
              </a:avLst>
            </a:prstGeom>
            <a:solidFill>
              <a:srgbClr val="F0FDFA"/>
            </a:solidFill>
            <a:ln cap="flat" cmpd="sng" w="9525">
              <a:solidFill>
                <a:srgbClr val="0D94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5" name="Google Shape;275;p8"/>
            <p:cNvSpPr/>
            <p:nvPr/>
          </p:nvSpPr>
          <p:spPr>
            <a:xfrm>
              <a:off x="3259455" y="2381250"/>
              <a:ext cx="2624100" cy="573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6" name="Google Shape;276;p8"/>
            <p:cNvSpPr txBox="1"/>
            <p:nvPr/>
          </p:nvSpPr>
          <p:spPr>
            <a:xfrm>
              <a:off x="3402330" y="2524125"/>
              <a:ext cx="2338500" cy="1762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300">
                  <a:solidFill>
                    <a:srgbClr val="0D9488"/>
                  </a:solidFill>
                  <a:latin typeface="Georgia"/>
                  <a:ea typeface="Georgia"/>
                  <a:cs typeface="Georgia"/>
                  <a:sym typeface="Georgia"/>
                </a:rPr>
                <a:t>Introduce Genuine Anomalies</a:t>
              </a:r>
              <a:endParaRPr b="1" sz="1300">
                <a:solidFill>
                  <a:srgbClr val="0D9488"/>
                </a:solidFill>
                <a:latin typeface="Georgia"/>
                <a:ea typeface="Georgia"/>
                <a:cs typeface="Georgia"/>
                <a:sym typeface="Georgia"/>
              </a:endParaRPr>
            </a:p>
            <a:p>
              <a:pPr indent="0" lvl="0" marL="0" rtl="0" algn="l">
                <a:spcBef>
                  <a:spcPts val="900"/>
                </a:spcBef>
                <a:spcAft>
                  <a:spcPts val="0"/>
                </a:spcAft>
                <a:buNone/>
              </a:pPr>
              <a:r>
                <a:rPr b="1" lang="en-US" sz="1050">
                  <a:solidFill>
                    <a:srgbClr val="1E293B"/>
                  </a:solidFill>
                  <a:latin typeface="Calibri"/>
                  <a:ea typeface="Calibri"/>
                  <a:cs typeface="Calibri"/>
                  <a:sym typeface="Calibri"/>
                </a:rPr>
                <a:t>Constraint:</a:t>
              </a:r>
              <a:r>
                <a:rPr lang="en-US" sz="1050">
                  <a:solidFill>
                    <a:srgbClr val="1E293B"/>
                  </a:solidFill>
                  <a:latin typeface="Calibri"/>
                  <a:ea typeface="Calibri"/>
                  <a:cs typeface="Calibri"/>
                  <a:sym typeface="Calibri"/>
                </a:rPr>
                <a:t> All 108 runs currently consist of normal experiments.</a:t>
              </a:r>
              <a:endParaRPr sz="1050">
                <a:solidFill>
                  <a:srgbClr val="1E293B"/>
                </a:solidFill>
                <a:latin typeface="Calibri"/>
                <a:ea typeface="Calibri"/>
                <a:cs typeface="Calibri"/>
                <a:sym typeface="Calibri"/>
              </a:endParaRPr>
            </a:p>
            <a:p>
              <a:pPr indent="0" lvl="0" marL="0" rtl="0" algn="l">
                <a:spcBef>
                  <a:spcPts val="600"/>
                </a:spcBef>
                <a:spcAft>
                  <a:spcPts val="0"/>
                </a:spcAft>
                <a:buNone/>
              </a:pPr>
              <a:r>
                <a:rPr b="1" lang="en-US" sz="1050">
                  <a:solidFill>
                    <a:srgbClr val="1E293B"/>
                  </a:solidFill>
                  <a:latin typeface="Calibri"/>
                  <a:ea typeface="Calibri"/>
                  <a:cs typeface="Calibri"/>
                  <a:sym typeface="Calibri"/>
                </a:rPr>
                <a:t>Anomaly detection needs data where something actually goes wrong.</a:t>
              </a:r>
              <a:endParaRPr b="1" sz="1050">
                <a:solidFill>
                  <a:srgbClr val="1E293B"/>
                </a:solidFill>
                <a:latin typeface="Calibri"/>
                <a:ea typeface="Calibri"/>
                <a:cs typeface="Calibri"/>
                <a:sym typeface="Calibri"/>
              </a:endParaRPr>
            </a:p>
          </p:txBody>
        </p:sp>
      </p:grpSp>
      <p:grpSp>
        <p:nvGrpSpPr>
          <p:cNvPr id="277" name="Google Shape;277;p8"/>
          <p:cNvGrpSpPr/>
          <p:nvPr/>
        </p:nvGrpSpPr>
        <p:grpSpPr>
          <a:xfrm>
            <a:off x="6107430" y="2381250"/>
            <a:ext cx="2624100" cy="2000100"/>
            <a:chOff x="6107430" y="2381250"/>
            <a:chExt cx="2624100" cy="2000100"/>
          </a:xfrm>
        </p:grpSpPr>
        <p:sp>
          <p:nvSpPr>
            <p:cNvPr id="278" name="Google Shape;278;p8"/>
            <p:cNvSpPr/>
            <p:nvPr/>
          </p:nvSpPr>
          <p:spPr>
            <a:xfrm>
              <a:off x="6107430" y="2381250"/>
              <a:ext cx="2624100" cy="2000100"/>
            </a:xfrm>
            <a:prstGeom prst="roundRect">
              <a:avLst>
                <a:gd fmla="val 1904" name="adj"/>
              </a:avLst>
            </a:prstGeom>
            <a:solidFill>
              <a:srgbClr val="FFF7ED"/>
            </a:solidFill>
            <a:ln cap="flat" cmpd="sng" w="9525">
              <a:solidFill>
                <a:srgbClr val="EA580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9" name="Google Shape;279;p8"/>
            <p:cNvSpPr/>
            <p:nvPr/>
          </p:nvSpPr>
          <p:spPr>
            <a:xfrm>
              <a:off x="6107430" y="2381250"/>
              <a:ext cx="2624100" cy="57300"/>
            </a:xfrm>
            <a:prstGeom prst="roundRect">
              <a:avLst>
                <a:gd fmla="val 50000" name="adj"/>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0" name="Google Shape;280;p8"/>
            <p:cNvSpPr txBox="1"/>
            <p:nvPr/>
          </p:nvSpPr>
          <p:spPr>
            <a:xfrm>
              <a:off x="6250305" y="2524125"/>
              <a:ext cx="2338500" cy="1762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300">
                  <a:solidFill>
                    <a:srgbClr val="EA580C"/>
                  </a:solidFill>
                  <a:latin typeface="Georgia"/>
                  <a:ea typeface="Georgia"/>
                  <a:cs typeface="Georgia"/>
                  <a:sym typeface="Georgia"/>
                </a:rPr>
                <a:t>Use Speed as Primary Signal</a:t>
              </a:r>
              <a:endParaRPr b="1" sz="1300">
                <a:solidFill>
                  <a:srgbClr val="EA580C"/>
                </a:solidFill>
                <a:latin typeface="Georgia"/>
                <a:ea typeface="Georgia"/>
                <a:cs typeface="Georgia"/>
                <a:sym typeface="Georgia"/>
              </a:endParaRPr>
            </a:p>
            <a:p>
              <a:pPr indent="0" lvl="0" marL="0" rtl="0" algn="l">
                <a:spcBef>
                  <a:spcPts val="900"/>
                </a:spcBef>
                <a:spcAft>
                  <a:spcPts val="0"/>
                </a:spcAft>
                <a:buNone/>
              </a:pPr>
              <a:r>
                <a:rPr b="1" lang="en-US" sz="1050">
                  <a:solidFill>
                    <a:srgbClr val="1E293B"/>
                  </a:solidFill>
                  <a:latin typeface="Calibri"/>
                  <a:ea typeface="Calibri"/>
                  <a:cs typeface="Calibri"/>
                  <a:sym typeface="Calibri"/>
                </a:rPr>
                <a:t>Result:</a:t>
              </a:r>
              <a:r>
                <a:rPr lang="en-US" sz="1050">
                  <a:solidFill>
                    <a:srgbClr val="1E293B"/>
                  </a:solidFill>
                  <a:latin typeface="Calibri"/>
                  <a:ea typeface="Calibri"/>
                  <a:cs typeface="Calibri"/>
                  <a:sym typeface="Calibri"/>
                </a:rPr>
                <a:t> Speed achieves 100% F1.</a:t>
              </a:r>
              <a:endParaRPr sz="1050">
                <a:solidFill>
                  <a:srgbClr val="1E293B"/>
                </a:solidFill>
                <a:latin typeface="Calibri"/>
                <a:ea typeface="Calibri"/>
                <a:cs typeface="Calibri"/>
                <a:sym typeface="Calibri"/>
              </a:endParaRPr>
            </a:p>
            <a:p>
              <a:pPr indent="0" lvl="0" marL="0" rtl="0" algn="l">
                <a:spcBef>
                  <a:spcPts val="600"/>
                </a:spcBef>
                <a:spcAft>
                  <a:spcPts val="0"/>
                </a:spcAft>
                <a:buNone/>
              </a:pPr>
              <a:r>
                <a:rPr b="1" lang="en-US" sz="1050">
                  <a:solidFill>
                    <a:srgbClr val="1E293B"/>
                  </a:solidFill>
                  <a:latin typeface="Calibri"/>
                  <a:ea typeface="Calibri"/>
                  <a:cs typeface="Calibri"/>
                  <a:sym typeface="Calibri"/>
                </a:rPr>
                <a:t>Frequency-domain analysis should be the primary detection mechanism.</a:t>
              </a:r>
              <a:endParaRPr b="1" sz="1050">
                <a:solidFill>
                  <a:srgbClr val="1E293B"/>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2026-04-22T21:05:26Z</dcterms:created>
  <dc:creator>PptxGenJS</dc:creator>
</cp:coreProperties>
</file>